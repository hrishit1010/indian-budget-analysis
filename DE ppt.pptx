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Roboto"/>
      <p:regular r:id="rId34"/>
      <p:bold r:id="rId35"/>
      <p:italic r:id="rId36"/>
      <p:boldItalic r:id="rId37"/>
    </p:embeddedFont>
    <p:embeddedFont>
      <p:font typeface="Roboto Medium"/>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edium-italic.fntdata"/><Relationship Id="rId20" Type="http://schemas.openxmlformats.org/officeDocument/2006/relationships/slide" Target="slides/slide15.xml"/><Relationship Id="rId41" Type="http://schemas.openxmlformats.org/officeDocument/2006/relationships/font" Target="fonts/RobotoMedium-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bold.fntdata"/><Relationship Id="rId12" Type="http://schemas.openxmlformats.org/officeDocument/2006/relationships/slide" Target="slides/slide7.xml"/><Relationship Id="rId34" Type="http://schemas.openxmlformats.org/officeDocument/2006/relationships/font" Target="fonts/Roboto-regular.fntdata"/><Relationship Id="rId15" Type="http://schemas.openxmlformats.org/officeDocument/2006/relationships/slide" Target="slides/slide10.xml"/><Relationship Id="rId37" Type="http://schemas.openxmlformats.org/officeDocument/2006/relationships/font" Target="fonts/Roboto-boldItalic.fntdata"/><Relationship Id="rId14" Type="http://schemas.openxmlformats.org/officeDocument/2006/relationships/slide" Target="slides/slide9.xml"/><Relationship Id="rId36" Type="http://schemas.openxmlformats.org/officeDocument/2006/relationships/font" Target="fonts/Roboto-italic.fntdata"/><Relationship Id="rId17" Type="http://schemas.openxmlformats.org/officeDocument/2006/relationships/slide" Target="slides/slide12.xml"/><Relationship Id="rId39" Type="http://schemas.openxmlformats.org/officeDocument/2006/relationships/font" Target="fonts/RobotoMedium-bold.fntdata"/><Relationship Id="rId16" Type="http://schemas.openxmlformats.org/officeDocument/2006/relationships/slide" Target="slides/slide11.xml"/><Relationship Id="rId38" Type="http://schemas.openxmlformats.org/officeDocument/2006/relationships/font" Target="fonts/RobotoMedium-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919934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9199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8000d612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8000d612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8000d612b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8000d612b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0defdf87e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0defdf87e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0defdf87e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0defdf87e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0defdf87e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0defdf87e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0defdf87eb_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0defdf87eb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0defdf87eb_4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0defdf87eb_4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0defdf87eb_3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0defdf87eb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0defdf87eb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0defdf87eb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7ffca53586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7ffca53586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6f919934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6f91993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0defdf87eb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0defdf87eb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7ffca53586_1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7ffca53586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0defdf87eb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0defdf87eb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0defdf87eb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0defdf87e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0defdf87e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0defdf87e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0defdf87e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0defdf87e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0defdf87eb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0defdf87e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0defdf87eb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0defdf87eb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0defdf87e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0defdf87e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0defdf87eb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0defdf87eb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0defdf87eb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0defdf87eb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0defdf87eb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0defdf87eb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0defdf87eb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0defdf87eb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0defdf87eb_5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0defdf87eb_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0defdf87eb_5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0defdf87eb_5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c6f919934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c6f91993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openbudgetsindia.org/dataset" TargetMode="External"/><Relationship Id="rId4" Type="http://schemas.openxmlformats.org/officeDocument/2006/relationships/hyperlink" Target="https://openbudgetsindia.org/dataset" TargetMode="External"/><Relationship Id="rId5" Type="http://schemas.openxmlformats.org/officeDocument/2006/relationships/hyperlink" Target="https://www.indiabudget.gov.in/economicsurvey/" TargetMode="External"/><Relationship Id="rId6" Type="http://schemas.openxmlformats.org/officeDocument/2006/relationships/hyperlink" Target="https://www.indiabudget.gov.in/bspeech.php"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1.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www.researchgate.net/journal/Communications-of-the-ACM-1557-7317?_tp=eyJjb250ZXh0Ijp7ImZpcnN0UGFnZSI6InB1YmxpY2F0aW9uIiwicGFnZSI6InB1YmxpY2F0aW9uIn19" TargetMode="External"/><Relationship Id="rId4" Type="http://schemas.openxmlformats.org/officeDocument/2006/relationships/hyperlink" Target="http://dx.doi.org/10.1145/2500873" TargetMode="External"/><Relationship Id="rId5" Type="http://schemas.openxmlformats.org/officeDocument/2006/relationships/hyperlink" Target="https://doi.org/10.1093/rfs/hhab038" TargetMode="External"/><Relationship Id="rId6" Type="http://schemas.openxmlformats.org/officeDocument/2006/relationships/hyperlink" Target="https://doi.org/10.1007/s11115-022-00694-x" TargetMode="External"/><Relationship Id="rId7" Type="http://schemas.openxmlformats.org/officeDocument/2006/relationships/hyperlink" Target="http://journals.sagepub.com/home/sgo"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doi.org/10.48084/etasr.6468"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64172"/>
            <a:ext cx="8222100" cy="838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DE Mini Project</a:t>
            </a:r>
            <a:endParaRPr/>
          </a:p>
        </p:txBody>
      </p:sp>
      <p:sp>
        <p:nvSpPr>
          <p:cNvPr id="86" name="Google Shape;86;p13"/>
          <p:cNvSpPr txBox="1"/>
          <p:nvPr>
            <p:ph idx="1" type="subTitle"/>
          </p:nvPr>
        </p:nvSpPr>
        <p:spPr>
          <a:xfrm>
            <a:off x="2515875" y="3211325"/>
            <a:ext cx="4334400" cy="1866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a:t>Group Members- </a:t>
            </a:r>
            <a:endParaRPr b="1"/>
          </a:p>
          <a:p>
            <a:pPr indent="0" lvl="0" marL="0" rtl="0" algn="just">
              <a:spcBef>
                <a:spcPts val="0"/>
              </a:spcBef>
              <a:spcAft>
                <a:spcPts val="0"/>
              </a:spcAft>
              <a:buNone/>
            </a:pPr>
            <a:r>
              <a:rPr lang="en" sz="2000"/>
              <a:t>Hrishit Madhavi (1032220164) </a:t>
            </a:r>
            <a:endParaRPr sz="2000"/>
          </a:p>
          <a:p>
            <a:pPr indent="0" lvl="0" marL="0" rtl="0" algn="just">
              <a:spcBef>
                <a:spcPts val="0"/>
              </a:spcBef>
              <a:spcAft>
                <a:spcPts val="0"/>
              </a:spcAft>
              <a:buNone/>
            </a:pPr>
            <a:r>
              <a:rPr lang="en" sz="2000"/>
              <a:t>Hrishikesh Iyer (1032220223) </a:t>
            </a:r>
            <a:endParaRPr sz="2000"/>
          </a:p>
          <a:p>
            <a:pPr indent="0" lvl="0" marL="0" rtl="0" algn="just">
              <a:spcBef>
                <a:spcPts val="0"/>
              </a:spcBef>
              <a:spcAft>
                <a:spcPts val="0"/>
              </a:spcAft>
              <a:buNone/>
            </a:pPr>
            <a:r>
              <a:rPr lang="en" sz="2000"/>
              <a:t>Rujuta Kulkarni (1032220271) </a:t>
            </a:r>
            <a:endParaRPr sz="2000"/>
          </a:p>
          <a:p>
            <a:pPr indent="0" lvl="0" marL="0" rtl="0" algn="just">
              <a:spcBef>
                <a:spcPts val="0"/>
              </a:spcBef>
              <a:spcAft>
                <a:spcPts val="0"/>
              </a:spcAft>
              <a:buNone/>
            </a:pPr>
            <a:r>
              <a:rPr lang="en" sz="2000"/>
              <a:t>Ayush Patil (1032220274)</a:t>
            </a:r>
            <a:endParaRPr sz="2000"/>
          </a:p>
        </p:txBody>
      </p:sp>
      <p:sp>
        <p:nvSpPr>
          <p:cNvPr id="87" name="Google Shape;87;p13"/>
          <p:cNvSpPr txBox="1"/>
          <p:nvPr>
            <p:ph type="ctrTitle"/>
          </p:nvPr>
        </p:nvSpPr>
        <p:spPr>
          <a:xfrm>
            <a:off x="598100" y="1440072"/>
            <a:ext cx="8222100" cy="838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Topic:</a:t>
            </a:r>
            <a:r>
              <a:rPr lang="en"/>
              <a:t> Indian Union Budget Analysis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Contents</a:t>
            </a:r>
            <a:endParaRPr/>
          </a:p>
        </p:txBody>
      </p:sp>
      <p:sp>
        <p:nvSpPr>
          <p:cNvPr id="93" name="Google Shape;93;p1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55600" lvl="0" marL="457200" rtl="0" algn="l">
              <a:lnSpc>
                <a:spcPct val="95000"/>
              </a:lnSpc>
              <a:spcBef>
                <a:spcPts val="0"/>
              </a:spcBef>
              <a:spcAft>
                <a:spcPts val="0"/>
              </a:spcAft>
              <a:buSzPts val="2000"/>
              <a:buChar char="●"/>
            </a:pPr>
            <a:r>
              <a:rPr lang="en" sz="2000"/>
              <a:t>Purpose , Scope and Objectives</a:t>
            </a:r>
            <a:endParaRPr sz="2000"/>
          </a:p>
          <a:p>
            <a:pPr indent="-355600" lvl="0" marL="457200" rtl="0" algn="l">
              <a:lnSpc>
                <a:spcPct val="95000"/>
              </a:lnSpc>
              <a:spcBef>
                <a:spcPts val="0"/>
              </a:spcBef>
              <a:spcAft>
                <a:spcPts val="0"/>
              </a:spcAft>
              <a:buSzPts val="2000"/>
              <a:buChar char="●"/>
            </a:pPr>
            <a:r>
              <a:rPr lang="en" sz="2000"/>
              <a:t>Abstract </a:t>
            </a:r>
            <a:endParaRPr sz="2000"/>
          </a:p>
          <a:p>
            <a:pPr indent="-355600" lvl="0" marL="457200" rtl="0" algn="l">
              <a:lnSpc>
                <a:spcPct val="95000"/>
              </a:lnSpc>
              <a:spcBef>
                <a:spcPts val="0"/>
              </a:spcBef>
              <a:spcAft>
                <a:spcPts val="0"/>
              </a:spcAft>
              <a:buSzPts val="2000"/>
              <a:buChar char="●"/>
            </a:pPr>
            <a:r>
              <a:rPr lang="en" sz="2000"/>
              <a:t>Introduction</a:t>
            </a:r>
            <a:endParaRPr sz="2000"/>
          </a:p>
          <a:p>
            <a:pPr indent="-355600" lvl="0" marL="457200" rtl="0" algn="l">
              <a:lnSpc>
                <a:spcPct val="95000"/>
              </a:lnSpc>
              <a:spcBef>
                <a:spcPts val="0"/>
              </a:spcBef>
              <a:spcAft>
                <a:spcPts val="0"/>
              </a:spcAft>
              <a:buSzPts val="2000"/>
              <a:buChar char="●"/>
            </a:pPr>
            <a:r>
              <a:rPr lang="en" sz="2000"/>
              <a:t>Literature Survey</a:t>
            </a:r>
            <a:endParaRPr sz="2000"/>
          </a:p>
          <a:p>
            <a:pPr indent="-355600" lvl="0" marL="457200" rtl="0" algn="l">
              <a:lnSpc>
                <a:spcPct val="95000"/>
              </a:lnSpc>
              <a:spcBef>
                <a:spcPts val="0"/>
              </a:spcBef>
              <a:spcAft>
                <a:spcPts val="0"/>
              </a:spcAft>
              <a:buSzPts val="2000"/>
              <a:buChar char="●"/>
            </a:pPr>
            <a:r>
              <a:rPr lang="en" sz="2000"/>
              <a:t>Dataset Preparation</a:t>
            </a:r>
            <a:endParaRPr sz="2000"/>
          </a:p>
          <a:p>
            <a:pPr indent="-355600" lvl="0" marL="457200" rtl="0" algn="l">
              <a:lnSpc>
                <a:spcPct val="95000"/>
              </a:lnSpc>
              <a:spcBef>
                <a:spcPts val="0"/>
              </a:spcBef>
              <a:spcAft>
                <a:spcPts val="0"/>
              </a:spcAft>
              <a:buSzPts val="2000"/>
              <a:buChar char="●"/>
            </a:pPr>
            <a:r>
              <a:rPr lang="en" sz="2000"/>
              <a:t>Dataset Collection</a:t>
            </a:r>
            <a:endParaRPr sz="2000"/>
          </a:p>
          <a:p>
            <a:pPr indent="-355600" lvl="0" marL="457200" rtl="0" algn="l">
              <a:lnSpc>
                <a:spcPct val="95000"/>
              </a:lnSpc>
              <a:spcBef>
                <a:spcPts val="0"/>
              </a:spcBef>
              <a:spcAft>
                <a:spcPts val="0"/>
              </a:spcAft>
              <a:buSzPts val="2000"/>
              <a:buChar char="●"/>
            </a:pPr>
            <a:r>
              <a:rPr lang="en" sz="2000"/>
              <a:t>Dataset Preprocessing</a:t>
            </a:r>
            <a:endParaRPr sz="2000"/>
          </a:p>
          <a:p>
            <a:pPr indent="-355600" lvl="0" marL="457200" rtl="0" algn="l">
              <a:lnSpc>
                <a:spcPct val="95000"/>
              </a:lnSpc>
              <a:spcBef>
                <a:spcPts val="0"/>
              </a:spcBef>
              <a:spcAft>
                <a:spcPts val="0"/>
              </a:spcAft>
              <a:buSzPts val="2000"/>
              <a:buChar char="●"/>
            </a:pPr>
            <a:r>
              <a:rPr lang="en" sz="2000"/>
              <a:t>Model Development</a:t>
            </a:r>
            <a:endParaRPr sz="2000"/>
          </a:p>
          <a:p>
            <a:pPr indent="-355600" lvl="0" marL="457200" rtl="0" algn="l">
              <a:lnSpc>
                <a:spcPct val="95000"/>
              </a:lnSpc>
              <a:spcBef>
                <a:spcPts val="0"/>
              </a:spcBef>
              <a:spcAft>
                <a:spcPts val="0"/>
              </a:spcAft>
              <a:buSzPts val="2000"/>
              <a:buChar char="●"/>
            </a:pPr>
            <a:r>
              <a:rPr lang="en" sz="2000"/>
              <a:t>Result and Visualization</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Purpose , Scope and Objectives</a:t>
            </a:r>
            <a:endParaRPr/>
          </a:p>
        </p:txBody>
      </p:sp>
      <p:sp>
        <p:nvSpPr>
          <p:cNvPr id="99" name="Google Shape;99;p15"/>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342900" lvl="0" marL="457200" rtl="0" algn="just">
              <a:lnSpc>
                <a:spcPct val="95000"/>
              </a:lnSpc>
              <a:spcBef>
                <a:spcPts val="1200"/>
              </a:spcBef>
              <a:spcAft>
                <a:spcPts val="0"/>
              </a:spcAft>
              <a:buClr>
                <a:schemeClr val="dk1"/>
              </a:buClr>
              <a:buSzPts val="1800"/>
              <a:buChar char="●"/>
            </a:pPr>
            <a:r>
              <a:rPr b="1" lang="en" sz="1552">
                <a:solidFill>
                  <a:schemeClr val="dk1"/>
                </a:solidFill>
              </a:rPr>
              <a:t>Problem Statement</a:t>
            </a:r>
            <a:r>
              <a:rPr b="1" lang="en" sz="1475">
                <a:solidFill>
                  <a:schemeClr val="dk1"/>
                </a:solidFill>
              </a:rPr>
              <a:t>: To analyse the annual budget of the Indian Union based on various domains and sectors</a:t>
            </a:r>
            <a:endParaRPr b="1" sz="1475">
              <a:solidFill>
                <a:schemeClr val="dk1"/>
              </a:solidFill>
            </a:endParaRPr>
          </a:p>
          <a:p>
            <a:pPr indent="0" lvl="0" marL="457200" rtl="0" algn="just">
              <a:lnSpc>
                <a:spcPct val="95000"/>
              </a:lnSpc>
              <a:spcBef>
                <a:spcPts val="1200"/>
              </a:spcBef>
              <a:spcAft>
                <a:spcPts val="0"/>
              </a:spcAft>
              <a:buNone/>
            </a:pPr>
            <a:r>
              <a:t/>
            </a:r>
            <a:endParaRPr sz="1275">
              <a:solidFill>
                <a:schemeClr val="dk1"/>
              </a:solidFill>
              <a:latin typeface="Roboto Medium"/>
              <a:ea typeface="Roboto Medium"/>
              <a:cs typeface="Roboto Medium"/>
              <a:sym typeface="Roboto Medium"/>
            </a:endParaRPr>
          </a:p>
          <a:p>
            <a:pPr indent="-342900" lvl="0" marL="457200" rtl="0" algn="just">
              <a:lnSpc>
                <a:spcPct val="95000"/>
              </a:lnSpc>
              <a:spcBef>
                <a:spcPts val="1200"/>
              </a:spcBef>
              <a:spcAft>
                <a:spcPts val="0"/>
              </a:spcAft>
              <a:buClr>
                <a:srgbClr val="000000"/>
              </a:buClr>
              <a:buSzPts val="1800"/>
              <a:buChar char="●"/>
            </a:pPr>
            <a:r>
              <a:rPr lang="en" sz="1275">
                <a:solidFill>
                  <a:srgbClr val="000000"/>
                </a:solidFill>
              </a:rPr>
              <a:t> </a:t>
            </a:r>
            <a:r>
              <a:rPr lang="en" sz="1352">
                <a:solidFill>
                  <a:srgbClr val="000000"/>
                </a:solidFill>
              </a:rPr>
              <a:t>Purpose:</a:t>
            </a:r>
            <a:endParaRPr sz="1352">
              <a:solidFill>
                <a:srgbClr val="000000"/>
              </a:solidFill>
            </a:endParaRPr>
          </a:p>
          <a:p>
            <a:pPr indent="-314483" lvl="1" marL="914400" rtl="0" algn="just">
              <a:lnSpc>
                <a:spcPct val="95000"/>
              </a:lnSpc>
              <a:spcBef>
                <a:spcPts val="0"/>
              </a:spcBef>
              <a:spcAft>
                <a:spcPts val="0"/>
              </a:spcAft>
              <a:buClr>
                <a:srgbClr val="000000"/>
              </a:buClr>
              <a:buSzPts val="1353"/>
              <a:buFont typeface="Roboto"/>
              <a:buChar char="○"/>
            </a:pPr>
            <a:r>
              <a:rPr lang="en" sz="1275">
                <a:solidFill>
                  <a:srgbClr val="000000"/>
                </a:solidFill>
              </a:rPr>
              <a:t>To draw outlines for possible improvements in various sectors based on current trends </a:t>
            </a:r>
            <a:endParaRPr sz="1275">
              <a:solidFill>
                <a:srgbClr val="000000"/>
              </a:solidFill>
            </a:endParaRPr>
          </a:p>
          <a:p>
            <a:pPr indent="-314483" lvl="1" marL="914400" rtl="0" algn="just">
              <a:lnSpc>
                <a:spcPct val="95000"/>
              </a:lnSpc>
              <a:spcBef>
                <a:spcPts val="0"/>
              </a:spcBef>
              <a:spcAft>
                <a:spcPts val="0"/>
              </a:spcAft>
              <a:buClr>
                <a:srgbClr val="000000"/>
              </a:buClr>
              <a:buSzPts val="1353"/>
              <a:buFont typeface="Roboto"/>
              <a:buChar char="○"/>
            </a:pPr>
            <a:r>
              <a:rPr lang="en" sz="1275">
                <a:solidFill>
                  <a:srgbClr val="000000"/>
                </a:solidFill>
              </a:rPr>
              <a:t>Hence draw upon various suggestions as inferences from this analysis</a:t>
            </a:r>
            <a:endParaRPr sz="1275">
              <a:solidFill>
                <a:srgbClr val="000000"/>
              </a:solidFill>
            </a:endParaRPr>
          </a:p>
          <a:p>
            <a:pPr indent="-314483" lvl="0" marL="457200" rtl="0" algn="just">
              <a:lnSpc>
                <a:spcPct val="95000"/>
              </a:lnSpc>
              <a:spcBef>
                <a:spcPts val="0"/>
              </a:spcBef>
              <a:spcAft>
                <a:spcPts val="0"/>
              </a:spcAft>
              <a:buClr>
                <a:srgbClr val="000000"/>
              </a:buClr>
              <a:buSzPts val="1353"/>
              <a:buChar char="●"/>
            </a:pPr>
            <a:r>
              <a:rPr lang="en" sz="1352">
                <a:solidFill>
                  <a:srgbClr val="000000"/>
                </a:solidFill>
              </a:rPr>
              <a:t>Objectives:</a:t>
            </a:r>
            <a:endParaRPr sz="1352">
              <a:solidFill>
                <a:srgbClr val="000000"/>
              </a:solidFill>
            </a:endParaRPr>
          </a:p>
          <a:p>
            <a:pPr indent="-314483" lvl="1" marL="914400" rtl="0" algn="just">
              <a:lnSpc>
                <a:spcPct val="95000"/>
              </a:lnSpc>
              <a:spcBef>
                <a:spcPts val="0"/>
              </a:spcBef>
              <a:spcAft>
                <a:spcPts val="0"/>
              </a:spcAft>
              <a:buClr>
                <a:srgbClr val="000000"/>
              </a:buClr>
              <a:buSzPts val="1353"/>
              <a:buFont typeface="Roboto"/>
              <a:buChar char="○"/>
            </a:pPr>
            <a:r>
              <a:rPr lang="en" sz="1275">
                <a:solidFill>
                  <a:srgbClr val="000000"/>
                </a:solidFill>
              </a:rPr>
              <a:t>To analyse the current budget and that of past Financial Years</a:t>
            </a:r>
            <a:endParaRPr sz="1275">
              <a:solidFill>
                <a:srgbClr val="000000"/>
              </a:solidFill>
            </a:endParaRPr>
          </a:p>
          <a:p>
            <a:pPr indent="-314483" lvl="1" marL="914400" rtl="0" algn="just">
              <a:lnSpc>
                <a:spcPct val="95000"/>
              </a:lnSpc>
              <a:spcBef>
                <a:spcPts val="0"/>
              </a:spcBef>
              <a:spcAft>
                <a:spcPts val="0"/>
              </a:spcAft>
              <a:buClr>
                <a:srgbClr val="000000"/>
              </a:buClr>
              <a:buSzPts val="1353"/>
              <a:buFont typeface="Roboto"/>
              <a:buChar char="○"/>
            </a:pPr>
            <a:r>
              <a:rPr lang="en" sz="1275">
                <a:solidFill>
                  <a:srgbClr val="000000"/>
                </a:solidFill>
              </a:rPr>
              <a:t>To visualise the evolution of the share of sectors (wrt budget % allocated)</a:t>
            </a:r>
            <a:endParaRPr sz="1275">
              <a:solidFill>
                <a:srgbClr val="000000"/>
              </a:solidFill>
            </a:endParaRPr>
          </a:p>
          <a:p>
            <a:pPr indent="-314483" lvl="1" marL="914400" rtl="0" algn="just">
              <a:lnSpc>
                <a:spcPct val="95000"/>
              </a:lnSpc>
              <a:spcBef>
                <a:spcPts val="0"/>
              </a:spcBef>
              <a:spcAft>
                <a:spcPts val="0"/>
              </a:spcAft>
              <a:buClr>
                <a:srgbClr val="000000"/>
              </a:buClr>
              <a:buSzPts val="1353"/>
              <a:buFont typeface="Roboto"/>
              <a:buChar char="○"/>
            </a:pPr>
            <a:r>
              <a:rPr lang="en" sz="1275">
                <a:solidFill>
                  <a:srgbClr val="000000"/>
                </a:solidFill>
              </a:rPr>
              <a:t>To draw inferences from this analysis </a:t>
            </a:r>
            <a:endParaRPr sz="1275">
              <a:solidFill>
                <a:srgbClr val="000000"/>
              </a:solidFill>
            </a:endParaRPr>
          </a:p>
          <a:p>
            <a:pPr indent="-314483" lvl="1" marL="914400" rtl="0" algn="just">
              <a:lnSpc>
                <a:spcPct val="95000"/>
              </a:lnSpc>
              <a:spcBef>
                <a:spcPts val="0"/>
              </a:spcBef>
              <a:spcAft>
                <a:spcPts val="0"/>
              </a:spcAft>
              <a:buClr>
                <a:srgbClr val="000000"/>
              </a:buClr>
              <a:buSzPts val="1353"/>
              <a:buFont typeface="Roboto"/>
              <a:buChar char="○"/>
            </a:pPr>
            <a:r>
              <a:rPr lang="en" sz="1275">
                <a:solidFill>
                  <a:srgbClr val="000000"/>
                </a:solidFill>
              </a:rPr>
              <a:t>To provide suggestions/predictions </a:t>
            </a:r>
            <a:endParaRPr sz="1275">
              <a:solidFill>
                <a:srgbClr val="000000"/>
              </a:solidFill>
            </a:endParaRPr>
          </a:p>
          <a:p>
            <a:pPr indent="0" lvl="0" marL="914400" rtl="0" algn="just">
              <a:lnSpc>
                <a:spcPct val="95000"/>
              </a:lnSpc>
              <a:spcBef>
                <a:spcPts val="1200"/>
              </a:spcBef>
              <a:spcAft>
                <a:spcPts val="0"/>
              </a:spcAft>
              <a:buSzPts val="852"/>
              <a:buNone/>
            </a:pPr>
            <a:r>
              <a:rPr lang="en" sz="1075">
                <a:solidFill>
                  <a:srgbClr val="000000"/>
                </a:solidFill>
              </a:rPr>
              <a:t> </a:t>
            </a:r>
            <a:endParaRPr sz="1075">
              <a:solidFill>
                <a:srgbClr val="000000"/>
              </a:solidFill>
            </a:endParaRPr>
          </a:p>
          <a:p>
            <a:pPr indent="0" lvl="0" marL="457200" rtl="0" algn="l">
              <a:lnSpc>
                <a:spcPct val="95000"/>
              </a:lnSpc>
              <a:spcBef>
                <a:spcPts val="1200"/>
              </a:spcBef>
              <a:spcAft>
                <a:spcPts val="1200"/>
              </a:spcAft>
              <a:buNone/>
            </a:pPr>
            <a:r>
              <a:t/>
            </a:r>
            <a:endParaRPr sz="1695" u="sng"/>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311700" y="15345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Scope, Introduction, </a:t>
            </a:r>
            <a:r>
              <a:rPr lang="en"/>
              <a:t>Abstract</a:t>
            </a:r>
            <a:endParaRPr/>
          </a:p>
        </p:txBody>
      </p:sp>
      <p:sp>
        <p:nvSpPr>
          <p:cNvPr id="105" name="Google Shape;105;p16"/>
          <p:cNvSpPr txBox="1"/>
          <p:nvPr>
            <p:ph idx="1" type="body"/>
          </p:nvPr>
        </p:nvSpPr>
        <p:spPr>
          <a:xfrm>
            <a:off x="282000" y="761250"/>
            <a:ext cx="8580000" cy="3621000"/>
          </a:xfrm>
          <a:prstGeom prst="rect">
            <a:avLst/>
          </a:prstGeom>
        </p:spPr>
        <p:txBody>
          <a:bodyPr anchorCtr="0" anchor="t" bIns="91425" lIns="91425" spcFirstLastPara="1" rIns="91425" wrap="square" tIns="91425">
            <a:normAutofit fontScale="25000" lnSpcReduction="20000"/>
          </a:bodyPr>
          <a:lstStyle/>
          <a:p>
            <a:pPr indent="-304800" lvl="0" marL="457200" rtl="0" algn="just">
              <a:spcBef>
                <a:spcPts val="1200"/>
              </a:spcBef>
              <a:spcAft>
                <a:spcPts val="0"/>
              </a:spcAft>
              <a:buClr>
                <a:srgbClr val="000000"/>
              </a:buClr>
              <a:buSzPct val="100000"/>
              <a:buChar char="●"/>
            </a:pPr>
            <a:r>
              <a:rPr b="1" lang="en" sz="4800">
                <a:solidFill>
                  <a:srgbClr val="000000"/>
                </a:solidFill>
              </a:rPr>
              <a:t>Scope:</a:t>
            </a:r>
            <a:endParaRPr b="1" sz="4800">
              <a:solidFill>
                <a:srgbClr val="000000"/>
              </a:solidFill>
            </a:endParaRPr>
          </a:p>
          <a:p>
            <a:pPr indent="0" lvl="0" marL="457200" rtl="0" algn="just">
              <a:spcBef>
                <a:spcPts val="1200"/>
              </a:spcBef>
              <a:spcAft>
                <a:spcPts val="0"/>
              </a:spcAft>
              <a:buNone/>
            </a:pPr>
            <a:r>
              <a:rPr lang="en" sz="4800">
                <a:solidFill>
                  <a:srgbClr val="000000"/>
                </a:solidFill>
              </a:rPr>
              <a:t>The analysis spans several years of the Indian Union Budget, providing a multi-year view of economic trends. The focus is on predicting changes in key metrics such as GDP per capita, population, HDI, and life expectancy. The study covers various sectors, including health, education, defense, and infrastructure, offering a national perspective on the budget's impact.</a:t>
            </a:r>
            <a:endParaRPr sz="4800">
              <a:solidFill>
                <a:srgbClr val="000000"/>
              </a:solidFill>
            </a:endParaRPr>
          </a:p>
          <a:p>
            <a:pPr indent="-304800" lvl="0" marL="457200" rtl="0" algn="l">
              <a:spcBef>
                <a:spcPts val="1200"/>
              </a:spcBef>
              <a:spcAft>
                <a:spcPts val="0"/>
              </a:spcAft>
              <a:buClr>
                <a:srgbClr val="000000"/>
              </a:buClr>
              <a:buSzPct val="100000"/>
              <a:buChar char="●"/>
            </a:pPr>
            <a:r>
              <a:rPr lang="en" sz="4800">
                <a:solidFill>
                  <a:srgbClr val="000000"/>
                </a:solidFill>
              </a:rPr>
              <a:t>. Introduction</a:t>
            </a:r>
            <a:endParaRPr sz="4800">
              <a:solidFill>
                <a:srgbClr val="000000"/>
              </a:solidFill>
            </a:endParaRPr>
          </a:p>
          <a:p>
            <a:pPr indent="0" lvl="0" marL="457200" rtl="0" algn="l">
              <a:spcBef>
                <a:spcPts val="1200"/>
              </a:spcBef>
              <a:spcAft>
                <a:spcPts val="0"/>
              </a:spcAft>
              <a:buNone/>
            </a:pPr>
            <a:r>
              <a:rPr lang="en" sz="4800">
                <a:solidFill>
                  <a:srgbClr val="000000"/>
                </a:solidFill>
              </a:rPr>
              <a:t>The Indian Union Budget is a critical framework that outlines the government's fiscal policies and financial allocations for the upcoming year. This project aims to analyze the Indian Union Budget data to identify trends and predict how various financial attributes influence one another. By employing statistical techniques, this analysis will enhance our understanding of the budget's impact on economic growth and public welfare.</a:t>
            </a:r>
            <a:endParaRPr sz="4800">
              <a:solidFill>
                <a:srgbClr val="000000"/>
              </a:solidFill>
            </a:endParaRPr>
          </a:p>
          <a:p>
            <a:pPr indent="-304800" lvl="0" marL="457200" rtl="0" algn="just">
              <a:spcBef>
                <a:spcPts val="1200"/>
              </a:spcBef>
              <a:spcAft>
                <a:spcPts val="0"/>
              </a:spcAft>
              <a:buClr>
                <a:srgbClr val="000000"/>
              </a:buClr>
              <a:buSzPct val="100000"/>
              <a:buChar char="●"/>
            </a:pPr>
            <a:r>
              <a:rPr lang="en" sz="4800">
                <a:solidFill>
                  <a:srgbClr val="000000"/>
                </a:solidFill>
                <a:latin typeface="Arial"/>
                <a:ea typeface="Arial"/>
                <a:cs typeface="Arial"/>
                <a:sym typeface="Arial"/>
              </a:rPr>
              <a:t>Abstract</a:t>
            </a:r>
            <a:endParaRPr sz="4800">
              <a:solidFill>
                <a:srgbClr val="000000"/>
              </a:solidFill>
              <a:latin typeface="Arial"/>
              <a:ea typeface="Arial"/>
              <a:cs typeface="Arial"/>
              <a:sym typeface="Arial"/>
            </a:endParaRPr>
          </a:p>
          <a:p>
            <a:pPr indent="-304800" lvl="1" marL="914400" marR="0" rtl="0" algn="just">
              <a:lnSpc>
                <a:spcPct val="95000"/>
              </a:lnSpc>
              <a:spcBef>
                <a:spcPts val="0"/>
              </a:spcBef>
              <a:spcAft>
                <a:spcPts val="0"/>
              </a:spcAft>
              <a:buClr>
                <a:srgbClr val="000000"/>
              </a:buClr>
              <a:buSzPct val="100000"/>
              <a:buFont typeface="Roboto"/>
              <a:buChar char="○"/>
            </a:pPr>
            <a:r>
              <a:rPr lang="en" sz="4800">
                <a:solidFill>
                  <a:srgbClr val="000000"/>
                </a:solidFill>
                <a:latin typeface="Arial"/>
                <a:ea typeface="Arial"/>
                <a:cs typeface="Arial"/>
                <a:sym typeface="Arial"/>
              </a:rPr>
              <a:t>The Indian Union Budget serves as a vital tool for influencing the nation’s economic strategies and priorities. This project offers an in-depth analysis of the Indian Union Budget through the lens of big data technologies, emphasizing the application of advanced data analytics to extract meaningful insights. As the volume and complexity of budgetary data continue to grow each year, conventional analysis techniques fall short. Utilizing frameworks such as Apache Spark and various Python-based data science libraries, we explore extensive datasets that encompass historical budget allocations, revenue trends, and expenditure patterns. This project aims to enhance understanding and decision-making in the context of public finance by leveraging cutting-edge analytical methods.</a:t>
            </a:r>
            <a:endParaRPr sz="4800">
              <a:solidFill>
                <a:srgbClr val="000000"/>
              </a:solidFill>
            </a:endParaRPr>
          </a:p>
          <a:p>
            <a:pPr indent="0" lvl="0" marL="457200" rtl="0" algn="l">
              <a:spcBef>
                <a:spcPts val="1200"/>
              </a:spcBef>
              <a:spcAft>
                <a:spcPts val="0"/>
              </a:spcAft>
              <a:buNone/>
            </a:pPr>
            <a:r>
              <a:t/>
            </a:r>
            <a:endParaRPr sz="5783">
              <a:solidFill>
                <a:srgbClr val="000000"/>
              </a:solidFill>
            </a:endParaRPr>
          </a:p>
          <a:p>
            <a:pPr indent="0" lvl="0" marL="457200" rtl="0" algn="just">
              <a:spcBef>
                <a:spcPts val="1200"/>
              </a:spcBef>
              <a:spcAft>
                <a:spcPts val="0"/>
              </a:spcAft>
              <a:buNone/>
            </a:pPr>
            <a:r>
              <a:t/>
            </a:r>
            <a:endParaRPr sz="1300">
              <a:solidFill>
                <a:srgbClr val="000000"/>
              </a:solidFill>
            </a:endParaRPr>
          </a:p>
          <a:p>
            <a:pPr indent="0" lvl="0" marL="0" rtl="0" algn="just">
              <a:spcBef>
                <a:spcPts val="1200"/>
              </a:spcBef>
              <a:spcAft>
                <a:spcPts val="0"/>
              </a:spcAft>
              <a:buNone/>
            </a:pPr>
            <a:r>
              <a:t/>
            </a:r>
            <a:endParaRPr sz="1300">
              <a:solidFill>
                <a:srgbClr val="000000"/>
              </a:solidFill>
            </a:endParaRPr>
          </a:p>
          <a:p>
            <a:pPr indent="0" lvl="0" marL="0" rtl="0" algn="l">
              <a:spcBef>
                <a:spcPts val="1200"/>
              </a:spcBef>
              <a:spcAft>
                <a:spcPts val="1200"/>
              </a:spcAft>
              <a:buNone/>
            </a:pPr>
            <a:r>
              <a:t/>
            </a:r>
            <a:endParaRPr sz="2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442100" y="1573875"/>
            <a:ext cx="7583400" cy="1868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Literature Survey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6" name="Google Shape;116;p1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7" name="Google Shape;117;p18"/>
          <p:cNvPicPr preferRelativeResize="0"/>
          <p:nvPr/>
        </p:nvPicPr>
        <p:blipFill>
          <a:blip r:embed="rId3">
            <a:alphaModFix/>
          </a:blip>
          <a:stretch>
            <a:fillRect/>
          </a:stretch>
        </p:blipFill>
        <p:spPr>
          <a:xfrm>
            <a:off x="0" y="410000"/>
            <a:ext cx="9144000" cy="4158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3" name="Google Shape;123;p1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4" name="Google Shape;124;p19"/>
          <p:cNvPicPr preferRelativeResize="0"/>
          <p:nvPr/>
        </p:nvPicPr>
        <p:blipFill rotWithShape="1">
          <a:blip r:embed="rId3">
            <a:alphaModFix/>
          </a:blip>
          <a:srcRect b="0" l="704" r="0" t="2410"/>
          <a:stretch/>
        </p:blipFill>
        <p:spPr>
          <a:xfrm>
            <a:off x="64050" y="497600"/>
            <a:ext cx="9079952" cy="3549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0" name="Google Shape;130;p2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1" name="Google Shape;131;p20"/>
          <p:cNvPicPr preferRelativeResize="0"/>
          <p:nvPr/>
        </p:nvPicPr>
        <p:blipFill>
          <a:blip r:embed="rId3">
            <a:alphaModFix/>
          </a:blip>
          <a:stretch>
            <a:fillRect/>
          </a:stretch>
        </p:blipFill>
        <p:spPr>
          <a:xfrm>
            <a:off x="0" y="1325304"/>
            <a:ext cx="9144000" cy="2004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175300" y="1073000"/>
            <a:ext cx="4135500" cy="2352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Dataset Preparation</a:t>
            </a:r>
            <a:endParaRPr/>
          </a:p>
        </p:txBody>
      </p:sp>
      <p:sp>
        <p:nvSpPr>
          <p:cNvPr id="137" name="Google Shape;137;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Preparation</a:t>
            </a:r>
            <a:endParaRPr/>
          </a:p>
          <a:p>
            <a:pPr indent="-342900" lvl="0" marL="457200" rtl="0" algn="l">
              <a:spcBef>
                <a:spcPts val="0"/>
              </a:spcBef>
              <a:spcAft>
                <a:spcPts val="0"/>
              </a:spcAft>
              <a:buSzPts val="1800"/>
              <a:buChar char="●"/>
            </a:pPr>
            <a:r>
              <a:rPr lang="en"/>
              <a:t>Collection</a:t>
            </a:r>
            <a:endParaRPr/>
          </a:p>
          <a:p>
            <a:pPr indent="0" lvl="0" marL="91440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idx="1" type="body"/>
          </p:nvPr>
        </p:nvSpPr>
        <p:spPr>
          <a:xfrm>
            <a:off x="134350" y="978625"/>
            <a:ext cx="8520600" cy="3339000"/>
          </a:xfrm>
          <a:prstGeom prst="rect">
            <a:avLst/>
          </a:prstGeom>
        </p:spPr>
        <p:txBody>
          <a:bodyPr anchorCtr="0" anchor="t" bIns="91425" lIns="91425" spcFirstLastPara="1" rIns="91425" wrap="square" tIns="91425">
            <a:noAutofit/>
          </a:bodyPr>
          <a:lstStyle/>
          <a:p>
            <a:pPr indent="-325755" lvl="0" marL="457200" marR="0" rtl="0" algn="l">
              <a:lnSpc>
                <a:spcPct val="105000"/>
              </a:lnSpc>
              <a:spcBef>
                <a:spcPts val="600"/>
              </a:spcBef>
              <a:spcAft>
                <a:spcPts val="0"/>
              </a:spcAft>
              <a:buClr>
                <a:srgbClr val="242424"/>
              </a:buClr>
              <a:buSzPts val="1530"/>
              <a:buChar char="●"/>
            </a:pPr>
            <a:r>
              <a:rPr b="1" lang="en" sz="1530">
                <a:solidFill>
                  <a:srgbClr val="242424"/>
                </a:solidFill>
              </a:rPr>
              <a:t>The first step involved gathering data from official sources such as government websites, kaggle; which provided us with state-wise budget allocation data for different financial years (2013-14 and 2024-25 in this case). This is crucial in data engineering as working with real-world data often starts with data acquisition from trustworthy sources. For this project, the data was likely sourced in a tabular format (like Excel or CSV files), which is common in data analysis tasks.</a:t>
            </a:r>
            <a:endParaRPr b="1" sz="1530">
              <a:solidFill>
                <a:srgbClr val="242424"/>
              </a:solidFill>
            </a:endParaRPr>
          </a:p>
          <a:p>
            <a:pPr indent="0" lvl="0" marL="457200" marR="0" rtl="0" algn="l">
              <a:lnSpc>
                <a:spcPct val="105000"/>
              </a:lnSpc>
              <a:spcBef>
                <a:spcPts val="600"/>
              </a:spcBef>
              <a:spcAft>
                <a:spcPts val="500"/>
              </a:spcAft>
              <a:buNone/>
            </a:pPr>
            <a:r>
              <a:t/>
            </a:r>
            <a:endParaRPr b="1" sz="1530">
              <a:solidFill>
                <a:srgbClr val="242424"/>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Sources of the Dataset</a:t>
            </a:r>
            <a:endParaRPr/>
          </a:p>
        </p:txBody>
      </p:sp>
      <p:sp>
        <p:nvSpPr>
          <p:cNvPr id="148" name="Google Shape;148;p23"/>
          <p:cNvSpPr txBox="1"/>
          <p:nvPr>
            <p:ph idx="1" type="body"/>
          </p:nvPr>
        </p:nvSpPr>
        <p:spPr>
          <a:xfrm>
            <a:off x="311700" y="1001275"/>
            <a:ext cx="8520600" cy="37188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600">
                <a:solidFill>
                  <a:srgbClr val="000000"/>
                </a:solidFill>
              </a:rPr>
              <a:t>We have identified different data sources for the budget analysis for our project which include:</a:t>
            </a:r>
            <a:endParaRPr sz="1600">
              <a:solidFill>
                <a:srgbClr val="000000"/>
              </a:solidFill>
            </a:endParaRPr>
          </a:p>
          <a:p>
            <a:pPr indent="-330200" lvl="0" marL="457200" rtl="0" algn="l">
              <a:lnSpc>
                <a:spcPct val="105000"/>
              </a:lnSpc>
              <a:spcBef>
                <a:spcPts val="1200"/>
              </a:spcBef>
              <a:spcAft>
                <a:spcPts val="0"/>
              </a:spcAft>
              <a:buSzPts val="1600"/>
              <a:buChar char="●"/>
            </a:pPr>
            <a:r>
              <a:rPr lang="en" sz="1600">
                <a:solidFill>
                  <a:srgbClr val="000000"/>
                </a:solidFill>
              </a:rPr>
              <a:t>Indian Gov. Budget website (</a:t>
            </a:r>
            <a:r>
              <a:rPr lang="en" sz="1600" u="sng">
                <a:solidFill>
                  <a:schemeClr val="hlink"/>
                </a:solidFill>
                <a:hlinkClick r:id="rId3"/>
              </a:rPr>
              <a:t>https://openbudgetsindia.org/dataset</a:t>
            </a:r>
            <a:r>
              <a:rPr lang="en" sz="1600">
                <a:solidFill>
                  <a:srgbClr val="000000"/>
                </a:solidFill>
              </a:rPr>
              <a:t>)</a:t>
            </a:r>
            <a:endParaRPr sz="1600">
              <a:solidFill>
                <a:srgbClr val="000000"/>
              </a:solidFill>
            </a:endParaRPr>
          </a:p>
          <a:p>
            <a:pPr indent="-330200" lvl="0" marL="457200" rtl="0" algn="l">
              <a:lnSpc>
                <a:spcPct val="105000"/>
              </a:lnSpc>
              <a:spcBef>
                <a:spcPts val="0"/>
              </a:spcBef>
              <a:spcAft>
                <a:spcPts val="0"/>
              </a:spcAft>
              <a:buSzPts val="1600"/>
              <a:buChar char="●"/>
            </a:pPr>
            <a:r>
              <a:rPr lang="en" sz="1600">
                <a:solidFill>
                  <a:srgbClr val="000000"/>
                </a:solidFill>
              </a:rPr>
              <a:t>Gov. of India data website (</a:t>
            </a:r>
            <a:r>
              <a:rPr lang="en" sz="1600" u="sng">
                <a:solidFill>
                  <a:schemeClr val="hlink"/>
                </a:solidFill>
                <a:hlinkClick r:id="rId4"/>
              </a:rPr>
              <a:t>https://openbudgetsindia.org/dataset</a:t>
            </a:r>
            <a:r>
              <a:rPr lang="en" sz="1600">
                <a:solidFill>
                  <a:srgbClr val="000000"/>
                </a:solidFill>
              </a:rPr>
              <a:t>)</a:t>
            </a:r>
            <a:endParaRPr sz="1600">
              <a:solidFill>
                <a:srgbClr val="000000"/>
              </a:solidFill>
            </a:endParaRPr>
          </a:p>
          <a:p>
            <a:pPr indent="-330200" lvl="0" marL="457200" rtl="0" algn="l">
              <a:lnSpc>
                <a:spcPct val="105000"/>
              </a:lnSpc>
              <a:spcBef>
                <a:spcPts val="0"/>
              </a:spcBef>
              <a:spcAft>
                <a:spcPts val="0"/>
              </a:spcAft>
              <a:buSzPts val="1600"/>
              <a:buChar char="●"/>
            </a:pPr>
            <a:r>
              <a:rPr lang="en" sz="1600">
                <a:solidFill>
                  <a:srgbClr val="000000"/>
                </a:solidFill>
              </a:rPr>
              <a:t>Economic Serveys of Gov. of India (</a:t>
            </a:r>
            <a:r>
              <a:rPr lang="en" sz="1600" u="sng">
                <a:solidFill>
                  <a:schemeClr val="hlink"/>
                </a:solidFill>
                <a:hlinkClick r:id="rId5"/>
              </a:rPr>
              <a:t>https://www.indiabudget.gov.in/economicsurvey/</a:t>
            </a:r>
            <a:r>
              <a:rPr lang="en" sz="1600">
                <a:solidFill>
                  <a:srgbClr val="000000"/>
                </a:solidFill>
              </a:rPr>
              <a:t>)</a:t>
            </a:r>
            <a:endParaRPr sz="1600">
              <a:solidFill>
                <a:srgbClr val="000000"/>
              </a:solidFill>
            </a:endParaRPr>
          </a:p>
          <a:p>
            <a:pPr indent="0" lvl="0" marL="457200" rtl="0" algn="l">
              <a:lnSpc>
                <a:spcPct val="105000"/>
              </a:lnSpc>
              <a:spcBef>
                <a:spcPts val="1200"/>
              </a:spcBef>
              <a:spcAft>
                <a:spcPts val="0"/>
              </a:spcAft>
              <a:buNone/>
            </a:pPr>
            <a:r>
              <a:t/>
            </a:r>
            <a:endParaRPr sz="1600">
              <a:solidFill>
                <a:srgbClr val="000000"/>
              </a:solidFill>
            </a:endParaRPr>
          </a:p>
          <a:p>
            <a:pPr indent="0" lvl="0" marL="0" rtl="0" algn="l">
              <a:lnSpc>
                <a:spcPct val="105000"/>
              </a:lnSpc>
              <a:spcBef>
                <a:spcPts val="1200"/>
              </a:spcBef>
              <a:spcAft>
                <a:spcPts val="0"/>
              </a:spcAft>
              <a:buNone/>
            </a:pPr>
            <a:r>
              <a:rPr b="1" lang="en" u="sng">
                <a:solidFill>
                  <a:srgbClr val="000000"/>
                </a:solidFill>
              </a:rPr>
              <a:t>Converting Unstructured Data into Structured-</a:t>
            </a:r>
            <a:endParaRPr b="1" u="sng">
              <a:solidFill>
                <a:srgbClr val="000000"/>
              </a:solidFill>
            </a:endParaRPr>
          </a:p>
          <a:p>
            <a:pPr indent="0" lvl="0" marL="0" rtl="0" algn="l">
              <a:lnSpc>
                <a:spcPct val="105000"/>
              </a:lnSpc>
              <a:spcBef>
                <a:spcPts val="1200"/>
              </a:spcBef>
              <a:spcAft>
                <a:spcPts val="0"/>
              </a:spcAft>
              <a:buNone/>
            </a:pPr>
            <a:r>
              <a:rPr b="1" lang="en" sz="1600">
                <a:solidFill>
                  <a:srgbClr val="242424"/>
                </a:solidFill>
                <a:highlight>
                  <a:srgbClr val="FFFFFF"/>
                </a:highlight>
                <a:latin typeface="Georgia"/>
                <a:ea typeface="Georgia"/>
                <a:cs typeface="Georgia"/>
                <a:sym typeface="Georgia"/>
              </a:rPr>
              <a:t>Budget Speeches</a:t>
            </a:r>
            <a:r>
              <a:rPr lang="en" sz="1600">
                <a:solidFill>
                  <a:srgbClr val="242424"/>
                </a:solidFill>
                <a:highlight>
                  <a:srgbClr val="FFFFFF"/>
                </a:highlight>
                <a:latin typeface="Georgia"/>
                <a:ea typeface="Georgia"/>
                <a:cs typeface="Georgia"/>
                <a:sym typeface="Georgia"/>
              </a:rPr>
              <a:t> and </a:t>
            </a:r>
            <a:r>
              <a:rPr b="1" lang="en" sz="1600">
                <a:solidFill>
                  <a:srgbClr val="242424"/>
                </a:solidFill>
                <a:highlight>
                  <a:srgbClr val="FFFFFF"/>
                </a:highlight>
                <a:latin typeface="Georgia"/>
                <a:ea typeface="Georgia"/>
                <a:cs typeface="Georgia"/>
                <a:sym typeface="Georgia"/>
              </a:rPr>
              <a:t>Budget </a:t>
            </a:r>
            <a:r>
              <a:rPr b="1" lang="en" sz="1600">
                <a:solidFill>
                  <a:srgbClr val="242424"/>
                </a:solidFill>
                <a:highlight>
                  <a:srgbClr val="FFFFFF"/>
                </a:highlight>
                <a:latin typeface="Georgia"/>
                <a:ea typeface="Georgia"/>
                <a:cs typeface="Georgia"/>
                <a:sym typeface="Georgia"/>
              </a:rPr>
              <a:t>Provisions</a:t>
            </a:r>
            <a:r>
              <a:rPr lang="en" sz="1600">
                <a:solidFill>
                  <a:srgbClr val="242424"/>
                </a:solidFill>
                <a:highlight>
                  <a:srgbClr val="FFFFFF"/>
                </a:highlight>
                <a:latin typeface="Georgia"/>
                <a:ea typeface="Georgia"/>
                <a:cs typeface="Georgia"/>
                <a:sym typeface="Georgia"/>
              </a:rPr>
              <a:t> to the structured data format and further using it.</a:t>
            </a:r>
            <a:endParaRPr sz="1600">
              <a:solidFill>
                <a:srgbClr val="242424"/>
              </a:solidFill>
              <a:highlight>
                <a:srgbClr val="FFFFFF"/>
              </a:highlight>
              <a:latin typeface="Georgia"/>
              <a:ea typeface="Georgia"/>
              <a:cs typeface="Georgia"/>
              <a:sym typeface="Georgia"/>
            </a:endParaRPr>
          </a:p>
          <a:p>
            <a:pPr indent="0" lvl="0" marL="0" rtl="0" algn="l">
              <a:lnSpc>
                <a:spcPct val="105000"/>
              </a:lnSpc>
              <a:spcBef>
                <a:spcPts val="1200"/>
              </a:spcBef>
              <a:spcAft>
                <a:spcPts val="0"/>
              </a:spcAft>
              <a:buNone/>
            </a:pPr>
            <a:r>
              <a:rPr lang="en" sz="1600" u="sng">
                <a:solidFill>
                  <a:schemeClr val="hlink"/>
                </a:solidFill>
                <a:highlight>
                  <a:srgbClr val="FFFFFF"/>
                </a:highlight>
                <a:latin typeface="Georgia"/>
                <a:ea typeface="Georgia"/>
                <a:cs typeface="Georgia"/>
                <a:sym typeface="Georgia"/>
                <a:hlinkClick r:id="rId6"/>
              </a:rPr>
              <a:t>https://www.indiabudget.gov.in/bspeech.php</a:t>
            </a:r>
            <a:r>
              <a:rPr lang="en" sz="1600">
                <a:solidFill>
                  <a:srgbClr val="242424"/>
                </a:solidFill>
                <a:highlight>
                  <a:srgbClr val="FFFFFF"/>
                </a:highlight>
                <a:latin typeface="Georgia"/>
                <a:ea typeface="Georgia"/>
                <a:cs typeface="Georgia"/>
                <a:sym typeface="Georgia"/>
              </a:rPr>
              <a:t> </a:t>
            </a:r>
            <a:endParaRPr sz="1600">
              <a:solidFill>
                <a:srgbClr val="242424"/>
              </a:solidFill>
              <a:highlight>
                <a:srgbClr val="FFFFFF"/>
              </a:highlight>
              <a:latin typeface="Georgia"/>
              <a:ea typeface="Georgia"/>
              <a:cs typeface="Georgia"/>
              <a:sym typeface="Georgia"/>
            </a:endParaRPr>
          </a:p>
          <a:p>
            <a:pPr indent="0" lvl="0" marL="0" rtl="0" algn="l">
              <a:lnSpc>
                <a:spcPct val="105000"/>
              </a:lnSpc>
              <a:spcBef>
                <a:spcPts val="1200"/>
              </a:spcBef>
              <a:spcAft>
                <a:spcPts val="1200"/>
              </a:spcAft>
              <a:buNone/>
            </a:pPr>
            <a:r>
              <a:t/>
            </a:r>
            <a:endParaRPr sz="160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175300" y="1073000"/>
            <a:ext cx="4135500" cy="2352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Data Processing</a:t>
            </a:r>
            <a:endParaRPr/>
          </a:p>
        </p:txBody>
      </p:sp>
      <p:sp>
        <p:nvSpPr>
          <p:cNvPr id="154" name="Google Shape;154;p24"/>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Preparation</a:t>
            </a:r>
            <a:endParaRPr/>
          </a:p>
          <a:p>
            <a:pPr indent="-342900" lvl="0" marL="457200" rtl="0" algn="l">
              <a:spcBef>
                <a:spcPts val="0"/>
              </a:spcBef>
              <a:spcAft>
                <a:spcPts val="0"/>
              </a:spcAft>
              <a:buSzPts val="1800"/>
              <a:buChar char="●"/>
            </a:pPr>
            <a:r>
              <a:rPr lang="en"/>
              <a:t>Collection</a:t>
            </a:r>
            <a:endParaRPr/>
          </a:p>
          <a:p>
            <a:pPr indent="-342900" lvl="0" marL="457200" rtl="0" algn="l">
              <a:spcBef>
                <a:spcPts val="0"/>
              </a:spcBef>
              <a:spcAft>
                <a:spcPts val="0"/>
              </a:spcAft>
              <a:buSzPts val="1800"/>
              <a:buChar char="●"/>
            </a:pPr>
            <a:r>
              <a:rPr lang="en"/>
              <a:t>Preprocessing</a:t>
            </a:r>
            <a:endParaRPr/>
          </a:p>
          <a:p>
            <a:pPr indent="0" lvl="0" marL="45720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idx="1" type="body"/>
          </p:nvPr>
        </p:nvSpPr>
        <p:spPr>
          <a:xfrm>
            <a:off x="119575" y="195275"/>
            <a:ext cx="8520600" cy="3339000"/>
          </a:xfrm>
          <a:prstGeom prst="rect">
            <a:avLst/>
          </a:prstGeom>
        </p:spPr>
        <p:txBody>
          <a:bodyPr anchorCtr="0" anchor="t" bIns="91425" lIns="91425" spcFirstLastPara="1" rIns="91425" wrap="square" tIns="91425">
            <a:noAutofit/>
          </a:bodyPr>
          <a:lstStyle/>
          <a:p>
            <a:pPr indent="-313055" lvl="0" marL="457200" rtl="0" algn="l">
              <a:lnSpc>
                <a:spcPct val="105000"/>
              </a:lnSpc>
              <a:spcBef>
                <a:spcPts val="600"/>
              </a:spcBef>
              <a:spcAft>
                <a:spcPts val="0"/>
              </a:spcAft>
              <a:buClr>
                <a:srgbClr val="242424"/>
              </a:buClr>
              <a:buSzPts val="1330"/>
              <a:buChar char="●"/>
            </a:pPr>
            <a:r>
              <a:rPr b="1" lang="en" sz="1330">
                <a:solidFill>
                  <a:srgbClr val="242424"/>
                </a:solidFill>
              </a:rPr>
              <a:t>Data Cleaning:</a:t>
            </a:r>
            <a:br>
              <a:rPr b="1" lang="en" sz="1330">
                <a:solidFill>
                  <a:srgbClr val="242424"/>
                </a:solidFill>
              </a:rPr>
            </a:br>
            <a:r>
              <a:rPr b="1" lang="en" sz="1330">
                <a:solidFill>
                  <a:srgbClr val="242424"/>
                </a:solidFill>
              </a:rPr>
              <a:t>Data is often incomplete, noisy, or inconsistent. In this project, the dataset had missing values (NaN), which were handled by either filling missing values with 0 or removing invalid data. Cleaning ensures that the dataset is consistent and reliable, avoiding errors during analysis and visualization.</a:t>
            </a:r>
            <a:endParaRPr b="1" sz="1330">
              <a:solidFill>
                <a:srgbClr val="242424"/>
              </a:solidFill>
            </a:endParaRPr>
          </a:p>
          <a:p>
            <a:pPr indent="-313055" lvl="0" marL="457200" rtl="0" algn="l">
              <a:lnSpc>
                <a:spcPct val="105000"/>
              </a:lnSpc>
              <a:spcBef>
                <a:spcPts val="0"/>
              </a:spcBef>
              <a:spcAft>
                <a:spcPts val="0"/>
              </a:spcAft>
              <a:buClr>
                <a:srgbClr val="242424"/>
              </a:buClr>
              <a:buSzPts val="1330"/>
              <a:buChar char="●"/>
            </a:pPr>
            <a:br>
              <a:rPr b="1" lang="en" sz="1330">
                <a:solidFill>
                  <a:srgbClr val="242424"/>
                </a:solidFill>
              </a:rPr>
            </a:br>
            <a:r>
              <a:rPr b="1" lang="en" sz="1330">
                <a:solidFill>
                  <a:srgbClr val="242424"/>
                </a:solidFill>
              </a:rPr>
              <a:t>Data Transformation:</a:t>
            </a:r>
            <a:br>
              <a:rPr b="1" lang="en" sz="1330">
                <a:solidFill>
                  <a:srgbClr val="242424"/>
                </a:solidFill>
              </a:rPr>
            </a:br>
            <a:r>
              <a:rPr b="1" lang="en" sz="1330">
                <a:solidFill>
                  <a:srgbClr val="242424"/>
                </a:solidFill>
              </a:rPr>
              <a:t>Data transformation involves converting the data into a more suitable format for analysis. In this case, we set appropriate column headers, ensured correct indexing by state names, and performed type conversions where necessary. This helped us prepare the dataset for further analysis and visualizations.</a:t>
            </a:r>
            <a:endParaRPr b="1" sz="1330">
              <a:solidFill>
                <a:srgbClr val="242424"/>
              </a:solidFill>
            </a:endParaRPr>
          </a:p>
          <a:p>
            <a:pPr indent="-313055" lvl="0" marL="457200" rtl="0" algn="l">
              <a:lnSpc>
                <a:spcPct val="105000"/>
              </a:lnSpc>
              <a:spcBef>
                <a:spcPts val="0"/>
              </a:spcBef>
              <a:spcAft>
                <a:spcPts val="0"/>
              </a:spcAft>
              <a:buClr>
                <a:srgbClr val="242424"/>
              </a:buClr>
              <a:buSzPts val="1330"/>
              <a:buChar char="●"/>
            </a:pPr>
            <a:br>
              <a:rPr b="1" lang="en" sz="1330">
                <a:solidFill>
                  <a:srgbClr val="242424"/>
                </a:solidFill>
              </a:rPr>
            </a:br>
            <a:r>
              <a:rPr b="1" lang="en" sz="1330">
                <a:solidFill>
                  <a:srgbClr val="242424"/>
                </a:solidFill>
              </a:rPr>
              <a:t>Data Integration:</a:t>
            </a:r>
            <a:br>
              <a:rPr b="1" lang="en" sz="1330">
                <a:solidFill>
                  <a:srgbClr val="242424"/>
                </a:solidFill>
              </a:rPr>
            </a:br>
            <a:r>
              <a:rPr b="1" lang="en" sz="1330">
                <a:solidFill>
                  <a:srgbClr val="242424"/>
                </a:solidFill>
              </a:rPr>
              <a:t>Since the project involved comparing different financial years, integration was necessary to combine the data into a unified format. We combined the 2024-25 and 2013-14 data for better comparative analysis.</a:t>
            </a:r>
            <a:endParaRPr b="1" sz="1330">
              <a:solidFill>
                <a:srgbClr val="242424"/>
              </a:solidFill>
            </a:endParaRPr>
          </a:p>
          <a:p>
            <a:pPr indent="-313055" lvl="0" marL="457200" rtl="0" algn="l">
              <a:lnSpc>
                <a:spcPct val="105000"/>
              </a:lnSpc>
              <a:spcBef>
                <a:spcPts val="0"/>
              </a:spcBef>
              <a:spcAft>
                <a:spcPts val="0"/>
              </a:spcAft>
              <a:buClr>
                <a:srgbClr val="242424"/>
              </a:buClr>
              <a:buSzPts val="1330"/>
              <a:buChar char="●"/>
            </a:pPr>
            <a:br>
              <a:rPr b="1" lang="en" sz="1330">
                <a:solidFill>
                  <a:srgbClr val="242424"/>
                </a:solidFill>
              </a:rPr>
            </a:br>
            <a:r>
              <a:rPr b="1" lang="en" sz="1330">
                <a:solidFill>
                  <a:srgbClr val="242424"/>
                </a:solidFill>
              </a:rPr>
              <a:t>Data Reduction:</a:t>
            </a:r>
            <a:br>
              <a:rPr b="1" lang="en" sz="1330">
                <a:solidFill>
                  <a:srgbClr val="242424"/>
                </a:solidFill>
              </a:rPr>
            </a:br>
            <a:br>
              <a:rPr b="1" lang="en" sz="1330">
                <a:solidFill>
                  <a:srgbClr val="242424"/>
                </a:solidFill>
              </a:rPr>
            </a:br>
            <a:r>
              <a:rPr b="1" lang="en" sz="1330">
                <a:solidFill>
                  <a:srgbClr val="242424"/>
                </a:solidFill>
              </a:rPr>
              <a:t>Data reduction is the process of reducing the volume but maintaining the integrity of the dataset. Although we worked with the full dataset here, we could have applied reduction techniques like aggregating data to a higher level (e.g., grouping smaller states) if needed for simplification.</a:t>
            </a:r>
            <a:endParaRPr b="1" sz="1330">
              <a:solidFill>
                <a:srgbClr val="242424"/>
              </a:solidFill>
            </a:endParaRPr>
          </a:p>
          <a:p>
            <a:pPr indent="0" lvl="0" marL="0" rtl="0" algn="l">
              <a:lnSpc>
                <a:spcPct val="105000"/>
              </a:lnSpc>
              <a:spcBef>
                <a:spcPts val="500"/>
              </a:spcBef>
              <a:spcAft>
                <a:spcPts val="1200"/>
              </a:spcAft>
              <a:buSzPts val="852"/>
              <a:buNone/>
            </a:pPr>
            <a:r>
              <a:t/>
            </a:r>
            <a:endParaRPr b="1" sz="1795">
              <a:solidFill>
                <a:srgbClr val="242424"/>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6"/>
          <p:cNvPicPr preferRelativeResize="0"/>
          <p:nvPr/>
        </p:nvPicPr>
        <p:blipFill>
          <a:blip r:embed="rId3">
            <a:alphaModFix/>
          </a:blip>
          <a:stretch>
            <a:fillRect/>
          </a:stretch>
        </p:blipFill>
        <p:spPr>
          <a:xfrm>
            <a:off x="2369425" y="152400"/>
            <a:ext cx="4977997" cy="48387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type="title"/>
          </p:nvPr>
        </p:nvSpPr>
        <p:spPr>
          <a:xfrm>
            <a:off x="316775" y="3111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Preprocessing</a:t>
            </a:r>
            <a:endParaRPr/>
          </a:p>
        </p:txBody>
      </p:sp>
      <p:sp>
        <p:nvSpPr>
          <p:cNvPr id="170" name="Google Shape;170;p27"/>
          <p:cNvSpPr txBox="1"/>
          <p:nvPr>
            <p:ph idx="1" type="body"/>
          </p:nvPr>
        </p:nvSpPr>
        <p:spPr>
          <a:xfrm>
            <a:off x="136775" y="918900"/>
            <a:ext cx="8880600" cy="37182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Data Cleaning:</a:t>
            </a:r>
            <a:endParaRPr/>
          </a:p>
          <a:p>
            <a:pPr indent="0" lvl="0" marL="0" rtl="0" algn="just">
              <a:spcBef>
                <a:spcPts val="1200"/>
              </a:spcBef>
              <a:spcAft>
                <a:spcPts val="0"/>
              </a:spcAft>
              <a:buNone/>
            </a:pPr>
            <a:r>
              <a:rPr lang="en" sz="1200">
                <a:solidFill>
                  <a:srgbClr val="000000"/>
                </a:solidFill>
              </a:rPr>
              <a:t>We handled missing data using two main approaches. In some cases, irrelevant records with too many missing values were removed (ignoring the tuple). For other cases, missing values were filled using the mean of the respective attribute, ensuring that the dataset remained balanced and complete.</a:t>
            </a:r>
            <a:endParaRPr sz="1200">
              <a:solidFill>
                <a:srgbClr val="000000"/>
              </a:solidFill>
            </a:endParaRPr>
          </a:p>
          <a:p>
            <a:pPr indent="0" lvl="0" marL="0" rtl="0" algn="just">
              <a:spcBef>
                <a:spcPts val="1200"/>
              </a:spcBef>
              <a:spcAft>
                <a:spcPts val="0"/>
              </a:spcAft>
              <a:buNone/>
            </a:pPr>
            <a:r>
              <a:rPr lang="en" sz="1300">
                <a:solidFill>
                  <a:srgbClr val="000000"/>
                </a:solidFill>
              </a:rPr>
              <a:t>Some of the outliers were smoothed using regression techniques to better fit the data trend.</a:t>
            </a:r>
            <a:endParaRPr sz="1300">
              <a:solidFill>
                <a:srgbClr val="000000"/>
              </a:solidFill>
            </a:endParaRPr>
          </a:p>
          <a:p>
            <a:pPr indent="0" lvl="0" marL="0" rtl="0" algn="just">
              <a:spcBef>
                <a:spcPts val="1200"/>
              </a:spcBef>
              <a:spcAft>
                <a:spcPts val="0"/>
              </a:spcAft>
              <a:buNone/>
            </a:pPr>
            <a:r>
              <a:t/>
            </a:r>
            <a:endParaRPr sz="1200">
              <a:solidFill>
                <a:srgbClr val="000000"/>
              </a:solidFill>
            </a:endParaRPr>
          </a:p>
          <a:p>
            <a:pPr indent="-334327" lvl="0" marL="457200" rtl="0" algn="l">
              <a:spcBef>
                <a:spcPts val="1200"/>
              </a:spcBef>
              <a:spcAft>
                <a:spcPts val="0"/>
              </a:spcAft>
              <a:buSzPct val="100000"/>
              <a:buChar char="●"/>
            </a:pPr>
            <a:r>
              <a:rPr lang="en"/>
              <a:t>Date Transformation:</a:t>
            </a:r>
            <a:endParaRPr/>
          </a:p>
          <a:p>
            <a:pPr indent="0" lvl="0" marL="0" rtl="0" algn="l">
              <a:spcBef>
                <a:spcPts val="1200"/>
              </a:spcBef>
              <a:spcAft>
                <a:spcPts val="0"/>
              </a:spcAft>
              <a:buNone/>
            </a:pPr>
            <a:r>
              <a:rPr lang="en" sz="1225">
                <a:solidFill>
                  <a:srgbClr val="000000"/>
                </a:solidFill>
                <a:latin typeface="Arial"/>
                <a:ea typeface="Arial"/>
                <a:cs typeface="Arial"/>
                <a:sym typeface="Arial"/>
              </a:rPr>
              <a:t>We applied Min-Max Normalisation, scaling all numerical values between 0 and 1 to ensure that no single attribute dominated others due to magnitude differences. This normalisation was essential for accurate performance in the linear regression models.</a:t>
            </a:r>
            <a:endParaRPr sz="1225">
              <a:solidFill>
                <a:srgbClr val="000000"/>
              </a:solidFill>
              <a:latin typeface="Arial"/>
              <a:ea typeface="Arial"/>
              <a:cs typeface="Arial"/>
              <a:sym typeface="Arial"/>
            </a:endParaRPr>
          </a:p>
          <a:p>
            <a:pPr indent="0" lvl="0" marL="0" rtl="0" algn="l">
              <a:spcBef>
                <a:spcPts val="1200"/>
              </a:spcBef>
              <a:spcAft>
                <a:spcPts val="0"/>
              </a:spcAft>
              <a:buNone/>
            </a:pPr>
            <a:r>
              <a:rPr lang="en" sz="1225">
                <a:solidFill>
                  <a:srgbClr val="000000"/>
                </a:solidFill>
                <a:latin typeface="Arial"/>
                <a:ea typeface="Arial"/>
                <a:cs typeface="Arial"/>
                <a:sym typeface="Arial"/>
              </a:rPr>
              <a:t>For some models, Z-Score Normalisation was applied, particularly when working with data that followed a normal distribution. This technique centred the data around a mean of 0 with a standard deviation of 1, ensuring equal contribution of all features.</a:t>
            </a:r>
            <a:endParaRPr sz="1225">
              <a:solidFill>
                <a:srgbClr val="000000"/>
              </a:solidFill>
              <a:latin typeface="Arial"/>
              <a:ea typeface="Arial"/>
              <a:cs typeface="Arial"/>
              <a:sym typeface="Arial"/>
            </a:endParaRPr>
          </a:p>
          <a:p>
            <a:pPr indent="0" lvl="0" marL="0" rtl="0" algn="l">
              <a:spcBef>
                <a:spcPts val="1200"/>
              </a:spcBef>
              <a:spcAft>
                <a:spcPts val="1200"/>
              </a:spcAft>
              <a:buNone/>
            </a:pPr>
            <a:r>
              <a:t/>
            </a:r>
            <a:endParaRPr sz="2025"/>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Preprocessing</a:t>
            </a:r>
            <a:endParaRPr/>
          </a:p>
          <a:p>
            <a:pPr indent="0" lvl="0" marL="0" rtl="0" algn="l">
              <a:spcBef>
                <a:spcPts val="0"/>
              </a:spcBef>
              <a:spcAft>
                <a:spcPts val="0"/>
              </a:spcAft>
              <a:buNone/>
            </a:pPr>
            <a:r>
              <a:t/>
            </a:r>
            <a:endParaRPr/>
          </a:p>
        </p:txBody>
      </p:sp>
      <p:sp>
        <p:nvSpPr>
          <p:cNvPr id="176" name="Google Shape;176;p28"/>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317500" lvl="0" marL="457200" rtl="0" algn="l">
              <a:spcBef>
                <a:spcPts val="1200"/>
              </a:spcBef>
              <a:spcAft>
                <a:spcPts val="0"/>
              </a:spcAft>
              <a:buClr>
                <a:srgbClr val="000000"/>
              </a:buClr>
              <a:buSzPts val="1400"/>
              <a:buChar char="●"/>
            </a:pPr>
            <a:r>
              <a:rPr lang="en" sz="1400">
                <a:solidFill>
                  <a:srgbClr val="000000"/>
                </a:solidFill>
              </a:rPr>
              <a:t>Attribute Selection:</a:t>
            </a:r>
            <a:endParaRPr sz="1400">
              <a:solidFill>
                <a:srgbClr val="000000"/>
              </a:solidFill>
            </a:endParaRPr>
          </a:p>
          <a:p>
            <a:pPr indent="0" lvl="0" marL="457200" rtl="0" algn="l">
              <a:spcBef>
                <a:spcPts val="1200"/>
              </a:spcBef>
              <a:spcAft>
                <a:spcPts val="0"/>
              </a:spcAft>
              <a:buNone/>
            </a:pPr>
            <a:r>
              <a:rPr lang="en" sz="1300">
                <a:solidFill>
                  <a:srgbClr val="000000"/>
                </a:solidFill>
              </a:rPr>
              <a:t>Only relevant attributes were selected for the final analysis. For instance, in predicting GDP per capita, variables related to fiscal deficits and government spending were retained, while less relevant attributes were excluded.</a:t>
            </a:r>
            <a:endParaRPr sz="1300">
              <a:solidFill>
                <a:srgbClr val="000000"/>
              </a:solidFill>
            </a:endParaRPr>
          </a:p>
          <a:p>
            <a:pPr indent="0" lvl="0" marL="457200" rtl="0" algn="l">
              <a:spcBef>
                <a:spcPts val="1200"/>
              </a:spcBef>
              <a:spcAft>
                <a:spcPts val="0"/>
              </a:spcAft>
              <a:buNone/>
            </a:pPr>
            <a:r>
              <a:rPr lang="en" sz="1300">
                <a:solidFill>
                  <a:srgbClr val="000000"/>
                </a:solidFill>
              </a:rPr>
              <a:t>Discretisation:In cases where continuous data needed to be grouped, attributes were discretised into intervals. This was particularly useful for models that required categorical input data.</a:t>
            </a:r>
            <a:endParaRPr sz="1300">
              <a:solidFill>
                <a:srgbClr val="000000"/>
              </a:solidFill>
            </a:endParaRPr>
          </a:p>
          <a:p>
            <a:pPr indent="-317500" lvl="0" marL="457200" rtl="0" algn="l">
              <a:spcBef>
                <a:spcPts val="1200"/>
              </a:spcBef>
              <a:spcAft>
                <a:spcPts val="0"/>
              </a:spcAft>
              <a:buClr>
                <a:srgbClr val="000000"/>
              </a:buClr>
              <a:buSzPts val="1400"/>
              <a:buChar char="●"/>
            </a:pPr>
            <a:r>
              <a:rPr lang="en" sz="1400">
                <a:solidFill>
                  <a:srgbClr val="000000"/>
                </a:solidFill>
              </a:rPr>
              <a:t>Data Reduction:</a:t>
            </a:r>
            <a:endParaRPr sz="1400">
              <a:solidFill>
                <a:srgbClr val="000000"/>
              </a:solidFill>
            </a:endParaRPr>
          </a:p>
          <a:p>
            <a:pPr indent="0" lvl="0" marL="457200" rtl="0" algn="l">
              <a:spcBef>
                <a:spcPts val="1200"/>
              </a:spcBef>
              <a:spcAft>
                <a:spcPts val="1200"/>
              </a:spcAft>
              <a:buNone/>
            </a:pPr>
            <a:r>
              <a:rPr lang="en" sz="1300">
                <a:solidFill>
                  <a:srgbClr val="000000"/>
                </a:solidFill>
              </a:rPr>
              <a:t> High-dimensional data was reduced by selecting a subset of important attributes, ensuring the model was more efficient without sacrificing accuracy.</a:t>
            </a:r>
            <a:endParaRPr sz="2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490250" y="1593125"/>
            <a:ext cx="7939800" cy="3024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Model Development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Linear Regression</a:t>
            </a:r>
            <a:endParaRPr/>
          </a:p>
        </p:txBody>
      </p:sp>
      <p:sp>
        <p:nvSpPr>
          <p:cNvPr id="187" name="Google Shape;187;p30"/>
          <p:cNvSpPr txBox="1"/>
          <p:nvPr>
            <p:ph idx="1" type="body"/>
          </p:nvPr>
        </p:nvSpPr>
        <p:spPr>
          <a:xfrm>
            <a:off x="59725" y="938150"/>
            <a:ext cx="9044400" cy="36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Year vs. Population: A linear regression model was applied to predict future population trends. The model showed consistent growth in population over time.</a:t>
            </a:r>
            <a:endParaRPr/>
          </a:p>
          <a:p>
            <a:pPr indent="0" lvl="0" marL="0" rtl="0" algn="l">
              <a:spcBef>
                <a:spcPts val="1200"/>
              </a:spcBef>
              <a:spcAft>
                <a:spcPts val="0"/>
              </a:spcAft>
              <a:buNone/>
            </a:pPr>
            <a:r>
              <a:rPr lang="en"/>
              <a:t> • Year vs. GDP Per Capita: This model predicted an increase in GDP per capita, reflecting positive economic growth over the years. </a:t>
            </a:r>
            <a:endParaRPr/>
          </a:p>
          <a:p>
            <a:pPr indent="0" lvl="0" marL="0" rtl="0" algn="l">
              <a:spcBef>
                <a:spcPts val="1200"/>
              </a:spcBef>
              <a:spcAft>
                <a:spcPts val="0"/>
              </a:spcAft>
              <a:buNone/>
            </a:pPr>
            <a:r>
              <a:rPr lang="en"/>
              <a:t>• Year vs. HDI and Life Expectancy: The model projected improvements in human development indicators, including life expectancy, based on historical data. </a:t>
            </a:r>
            <a:endParaRPr/>
          </a:p>
          <a:p>
            <a:pPr indent="0" lvl="0" marL="0" rtl="0" algn="l">
              <a:spcBef>
                <a:spcPts val="1200"/>
              </a:spcBef>
              <a:spcAft>
                <a:spcPts val="1200"/>
              </a:spcAft>
              <a:buNone/>
            </a:pPr>
            <a:r>
              <a:rPr lang="en"/>
              <a:t>The results from the regression models were used to generate predictions, offering insights into how budgetary allocations affect population growth, economic health, and human development indicators.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1"/>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Outcome and Visualization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32"/>
          <p:cNvPicPr preferRelativeResize="0"/>
          <p:nvPr/>
        </p:nvPicPr>
        <p:blipFill>
          <a:blip r:embed="rId3">
            <a:alphaModFix/>
          </a:blip>
          <a:stretch>
            <a:fillRect/>
          </a:stretch>
        </p:blipFill>
        <p:spPr>
          <a:xfrm>
            <a:off x="311700" y="1271375"/>
            <a:ext cx="3999900" cy="3250751"/>
          </a:xfrm>
          <a:prstGeom prst="rect">
            <a:avLst/>
          </a:prstGeom>
          <a:noFill/>
          <a:ln>
            <a:noFill/>
          </a:ln>
        </p:spPr>
      </p:pic>
      <p:pic>
        <p:nvPicPr>
          <p:cNvPr id="198" name="Google Shape;198;p32"/>
          <p:cNvPicPr preferRelativeResize="0"/>
          <p:nvPr/>
        </p:nvPicPr>
        <p:blipFill>
          <a:blip r:embed="rId4">
            <a:alphaModFix/>
          </a:blip>
          <a:stretch>
            <a:fillRect/>
          </a:stretch>
        </p:blipFill>
        <p:spPr>
          <a:xfrm>
            <a:off x="4553226" y="1271375"/>
            <a:ext cx="4083000" cy="3175667"/>
          </a:xfrm>
          <a:prstGeom prst="rect">
            <a:avLst/>
          </a:prstGeom>
          <a:noFill/>
          <a:ln>
            <a:noFill/>
          </a:ln>
        </p:spPr>
      </p:pic>
      <p:sp>
        <p:nvSpPr>
          <p:cNvPr id="199" name="Google Shape;199;p32"/>
          <p:cNvSpPr txBox="1"/>
          <p:nvPr>
            <p:ph idx="1" type="body"/>
          </p:nvPr>
        </p:nvSpPr>
        <p:spPr>
          <a:xfrm>
            <a:off x="301650" y="314950"/>
            <a:ext cx="4083000" cy="815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100">
                <a:solidFill>
                  <a:schemeClr val="dk1"/>
                </a:solidFill>
              </a:rPr>
              <a:t>Year -Population</a:t>
            </a:r>
            <a:endParaRPr sz="2100">
              <a:solidFill>
                <a:schemeClr val="dk1"/>
              </a:solidFill>
            </a:endParaRPr>
          </a:p>
        </p:txBody>
      </p:sp>
      <p:sp>
        <p:nvSpPr>
          <p:cNvPr id="200" name="Google Shape;200;p32"/>
          <p:cNvSpPr txBox="1"/>
          <p:nvPr>
            <p:ph idx="2" type="body"/>
          </p:nvPr>
        </p:nvSpPr>
        <p:spPr>
          <a:xfrm>
            <a:off x="4644550" y="314950"/>
            <a:ext cx="3920400" cy="815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200">
                <a:solidFill>
                  <a:schemeClr val="dk1"/>
                </a:solidFill>
              </a:rPr>
              <a:t>Year- GDP per Capita </a:t>
            </a:r>
            <a:endParaRPr sz="22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txBox="1"/>
          <p:nvPr>
            <p:ph idx="1" type="body"/>
          </p:nvPr>
        </p:nvSpPr>
        <p:spPr>
          <a:xfrm flipH="1">
            <a:off x="311700" y="196475"/>
            <a:ext cx="3999900" cy="103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100">
                <a:solidFill>
                  <a:schemeClr val="dk1"/>
                </a:solidFill>
              </a:rPr>
              <a:t>Year vs HDI</a:t>
            </a:r>
            <a:endParaRPr sz="2100">
              <a:solidFill>
                <a:schemeClr val="dk1"/>
              </a:solidFill>
            </a:endParaRPr>
          </a:p>
        </p:txBody>
      </p:sp>
      <p:sp>
        <p:nvSpPr>
          <p:cNvPr id="206" name="Google Shape;206;p33"/>
          <p:cNvSpPr txBox="1"/>
          <p:nvPr>
            <p:ph idx="2" type="body"/>
          </p:nvPr>
        </p:nvSpPr>
        <p:spPr>
          <a:xfrm flipH="1">
            <a:off x="4789050" y="292775"/>
            <a:ext cx="4043400" cy="93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100">
                <a:solidFill>
                  <a:schemeClr val="dk1"/>
                </a:solidFill>
              </a:rPr>
              <a:t>Year vs Life Expectancy</a:t>
            </a:r>
            <a:endParaRPr sz="2100">
              <a:solidFill>
                <a:schemeClr val="dk1"/>
              </a:solidFill>
            </a:endParaRPr>
          </a:p>
        </p:txBody>
      </p:sp>
      <p:pic>
        <p:nvPicPr>
          <p:cNvPr id="207" name="Google Shape;207;p33"/>
          <p:cNvPicPr preferRelativeResize="0"/>
          <p:nvPr/>
        </p:nvPicPr>
        <p:blipFill>
          <a:blip r:embed="rId3">
            <a:alphaModFix/>
          </a:blip>
          <a:stretch>
            <a:fillRect/>
          </a:stretch>
        </p:blipFill>
        <p:spPr>
          <a:xfrm>
            <a:off x="311700" y="1439511"/>
            <a:ext cx="4187400" cy="3253015"/>
          </a:xfrm>
          <a:prstGeom prst="rect">
            <a:avLst/>
          </a:prstGeom>
          <a:noFill/>
          <a:ln>
            <a:noFill/>
          </a:ln>
        </p:spPr>
      </p:pic>
      <p:pic>
        <p:nvPicPr>
          <p:cNvPr id="208" name="Google Shape;208;p33"/>
          <p:cNvPicPr preferRelativeResize="0"/>
          <p:nvPr/>
        </p:nvPicPr>
        <p:blipFill>
          <a:blip r:embed="rId4">
            <a:alphaModFix/>
          </a:blip>
          <a:stretch>
            <a:fillRect/>
          </a:stretch>
        </p:blipFill>
        <p:spPr>
          <a:xfrm>
            <a:off x="4732900" y="1439500"/>
            <a:ext cx="4258701" cy="32530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4"/>
          <p:cNvSpPr txBox="1"/>
          <p:nvPr>
            <p:ph idx="1" type="body"/>
          </p:nvPr>
        </p:nvSpPr>
        <p:spPr>
          <a:xfrm flipH="1" rot="10800000">
            <a:off x="311700" y="475775"/>
            <a:ext cx="3999900" cy="754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14" name="Google Shape;214;p34"/>
          <p:cNvSpPr txBox="1"/>
          <p:nvPr>
            <p:ph idx="2" type="body"/>
          </p:nvPr>
        </p:nvSpPr>
        <p:spPr>
          <a:xfrm flipH="1" rot="10800000">
            <a:off x="4740875" y="418175"/>
            <a:ext cx="4091400" cy="811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5" name="Google Shape;215;p34"/>
          <p:cNvPicPr preferRelativeResize="0"/>
          <p:nvPr/>
        </p:nvPicPr>
        <p:blipFill>
          <a:blip r:embed="rId3">
            <a:alphaModFix/>
          </a:blip>
          <a:stretch>
            <a:fillRect/>
          </a:stretch>
        </p:blipFill>
        <p:spPr>
          <a:xfrm>
            <a:off x="152400" y="1229975"/>
            <a:ext cx="4588474" cy="3761126"/>
          </a:xfrm>
          <a:prstGeom prst="rect">
            <a:avLst/>
          </a:prstGeom>
          <a:noFill/>
          <a:ln>
            <a:noFill/>
          </a:ln>
        </p:spPr>
      </p:pic>
      <p:pic>
        <p:nvPicPr>
          <p:cNvPr id="216" name="Google Shape;216;p34"/>
          <p:cNvPicPr preferRelativeResize="0"/>
          <p:nvPr/>
        </p:nvPicPr>
        <p:blipFill>
          <a:blip r:embed="rId4">
            <a:alphaModFix/>
          </a:blip>
          <a:stretch>
            <a:fillRect/>
          </a:stretch>
        </p:blipFill>
        <p:spPr>
          <a:xfrm>
            <a:off x="4787400" y="1229975"/>
            <a:ext cx="4204199" cy="3483925"/>
          </a:xfrm>
          <a:prstGeom prst="rect">
            <a:avLst/>
          </a:prstGeom>
          <a:noFill/>
          <a:ln>
            <a:noFill/>
          </a:ln>
        </p:spPr>
      </p:pic>
      <p:sp>
        <p:nvSpPr>
          <p:cNvPr id="217" name="Google Shape;217;p34"/>
          <p:cNvSpPr txBox="1"/>
          <p:nvPr>
            <p:ph idx="1" type="body"/>
          </p:nvPr>
        </p:nvSpPr>
        <p:spPr>
          <a:xfrm>
            <a:off x="301650" y="314950"/>
            <a:ext cx="4083000" cy="815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100">
                <a:solidFill>
                  <a:schemeClr val="dk1"/>
                </a:solidFill>
              </a:rPr>
              <a:t>Budget Allocation Trends</a:t>
            </a:r>
            <a:endParaRPr sz="2100">
              <a:solidFill>
                <a:schemeClr val="dk1"/>
              </a:solidFill>
            </a:endParaRPr>
          </a:p>
        </p:txBody>
      </p:sp>
      <p:sp>
        <p:nvSpPr>
          <p:cNvPr id="218" name="Google Shape;218;p34"/>
          <p:cNvSpPr txBox="1"/>
          <p:nvPr>
            <p:ph idx="1" type="body"/>
          </p:nvPr>
        </p:nvSpPr>
        <p:spPr>
          <a:xfrm>
            <a:off x="4745075" y="314950"/>
            <a:ext cx="4083000" cy="8157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1200"/>
              </a:spcAft>
              <a:buNone/>
            </a:pPr>
            <a:r>
              <a:rPr lang="en" sz="2100">
                <a:solidFill>
                  <a:schemeClr val="dk1"/>
                </a:solidFill>
              </a:rPr>
              <a:t>Budget Allocation in 2024-25 in Different Satates</a:t>
            </a:r>
            <a:endParaRPr sz="21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idx="1" type="body"/>
          </p:nvPr>
        </p:nvSpPr>
        <p:spPr>
          <a:xfrm flipH="1" rot="10800000">
            <a:off x="311700" y="350675"/>
            <a:ext cx="3999900" cy="879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24" name="Google Shape;224;p35"/>
          <p:cNvSpPr txBox="1"/>
          <p:nvPr>
            <p:ph idx="2" type="body"/>
          </p:nvPr>
        </p:nvSpPr>
        <p:spPr>
          <a:xfrm flipH="1" rot="10800000">
            <a:off x="4711975" y="355876"/>
            <a:ext cx="4120200" cy="879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5" name="Google Shape;225;p35"/>
          <p:cNvPicPr preferRelativeResize="0"/>
          <p:nvPr/>
        </p:nvPicPr>
        <p:blipFill>
          <a:blip r:embed="rId3">
            <a:alphaModFix/>
          </a:blip>
          <a:stretch>
            <a:fillRect/>
          </a:stretch>
        </p:blipFill>
        <p:spPr>
          <a:xfrm>
            <a:off x="152400" y="1387576"/>
            <a:ext cx="4578249" cy="3603525"/>
          </a:xfrm>
          <a:prstGeom prst="rect">
            <a:avLst/>
          </a:prstGeom>
          <a:noFill/>
          <a:ln>
            <a:noFill/>
          </a:ln>
        </p:spPr>
      </p:pic>
      <p:pic>
        <p:nvPicPr>
          <p:cNvPr id="226" name="Google Shape;226;p35"/>
          <p:cNvPicPr preferRelativeResize="0"/>
          <p:nvPr/>
        </p:nvPicPr>
        <p:blipFill>
          <a:blip r:embed="rId4">
            <a:alphaModFix/>
          </a:blip>
          <a:stretch>
            <a:fillRect/>
          </a:stretch>
        </p:blipFill>
        <p:spPr>
          <a:xfrm>
            <a:off x="4871400" y="1387575"/>
            <a:ext cx="4120199" cy="3326325"/>
          </a:xfrm>
          <a:prstGeom prst="rect">
            <a:avLst/>
          </a:prstGeom>
          <a:noFill/>
          <a:ln>
            <a:noFill/>
          </a:ln>
        </p:spPr>
      </p:pic>
      <p:sp>
        <p:nvSpPr>
          <p:cNvPr id="227" name="Google Shape;227;p35"/>
          <p:cNvSpPr txBox="1"/>
          <p:nvPr>
            <p:ph idx="1" type="body"/>
          </p:nvPr>
        </p:nvSpPr>
        <p:spPr>
          <a:xfrm>
            <a:off x="301650" y="314950"/>
            <a:ext cx="4083000" cy="8157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1200"/>
              </a:spcAft>
              <a:buNone/>
            </a:pPr>
            <a:r>
              <a:rPr lang="en" sz="2100">
                <a:solidFill>
                  <a:schemeClr val="dk1"/>
                </a:solidFill>
              </a:rPr>
              <a:t>Correlation Analysis using Heatmap</a:t>
            </a:r>
            <a:endParaRPr sz="2100">
              <a:solidFill>
                <a:schemeClr val="dk1"/>
              </a:solidFill>
            </a:endParaRPr>
          </a:p>
        </p:txBody>
      </p:sp>
      <p:sp>
        <p:nvSpPr>
          <p:cNvPr id="228" name="Google Shape;228;p35"/>
          <p:cNvSpPr txBox="1"/>
          <p:nvPr>
            <p:ph idx="1" type="body"/>
          </p:nvPr>
        </p:nvSpPr>
        <p:spPr>
          <a:xfrm>
            <a:off x="4651625" y="387675"/>
            <a:ext cx="4083000" cy="815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100">
                <a:solidFill>
                  <a:schemeClr val="dk1"/>
                </a:solidFill>
              </a:rPr>
              <a:t>Total Yearly Budget trends</a:t>
            </a:r>
            <a:endParaRPr sz="21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6"/>
          <p:cNvSpPr txBox="1"/>
          <p:nvPr>
            <p:ph idx="1" type="body"/>
          </p:nvPr>
        </p:nvSpPr>
        <p:spPr>
          <a:xfrm flipH="1" rot="10800000">
            <a:off x="-1431225" y="1380125"/>
            <a:ext cx="3999900" cy="802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34" name="Google Shape;234;p36"/>
          <p:cNvSpPr txBox="1"/>
          <p:nvPr>
            <p:ph idx="2" type="body"/>
          </p:nvPr>
        </p:nvSpPr>
        <p:spPr>
          <a:xfrm flipH="1" rot="10800000">
            <a:off x="4832400" y="425514"/>
            <a:ext cx="3999900" cy="802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5" name="Google Shape;235;p36"/>
          <p:cNvPicPr preferRelativeResize="0"/>
          <p:nvPr/>
        </p:nvPicPr>
        <p:blipFill>
          <a:blip r:embed="rId3">
            <a:alphaModFix/>
          </a:blip>
          <a:stretch>
            <a:fillRect/>
          </a:stretch>
        </p:blipFill>
        <p:spPr>
          <a:xfrm>
            <a:off x="152400" y="1382375"/>
            <a:ext cx="4159200" cy="3608725"/>
          </a:xfrm>
          <a:prstGeom prst="rect">
            <a:avLst/>
          </a:prstGeom>
          <a:noFill/>
          <a:ln>
            <a:noFill/>
          </a:ln>
        </p:spPr>
      </p:pic>
      <p:sp>
        <p:nvSpPr>
          <p:cNvPr id="236" name="Google Shape;236;p36"/>
          <p:cNvSpPr txBox="1"/>
          <p:nvPr>
            <p:ph idx="1" type="body"/>
          </p:nvPr>
        </p:nvSpPr>
        <p:spPr>
          <a:xfrm>
            <a:off x="301650" y="314950"/>
            <a:ext cx="8530800" cy="815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100">
                <a:solidFill>
                  <a:schemeClr val="dk1"/>
                </a:solidFill>
              </a:rPr>
              <a:t>Ministries Budget Allocation</a:t>
            </a:r>
            <a:endParaRPr sz="2100">
              <a:solidFill>
                <a:schemeClr val="dk1"/>
              </a:solidFill>
            </a:endParaRPr>
          </a:p>
        </p:txBody>
      </p:sp>
      <p:pic>
        <p:nvPicPr>
          <p:cNvPr id="237" name="Google Shape;237;p36"/>
          <p:cNvPicPr preferRelativeResize="0"/>
          <p:nvPr/>
        </p:nvPicPr>
        <p:blipFill>
          <a:blip r:embed="rId4">
            <a:alphaModFix/>
          </a:blip>
          <a:stretch>
            <a:fillRect/>
          </a:stretch>
        </p:blipFill>
        <p:spPr>
          <a:xfrm>
            <a:off x="4427100" y="1380125"/>
            <a:ext cx="4564501" cy="32856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7"/>
          <p:cNvSpPr txBox="1"/>
          <p:nvPr>
            <p:ph idx="1" type="body"/>
          </p:nvPr>
        </p:nvSpPr>
        <p:spPr>
          <a:xfrm flipH="1" rot="10800000">
            <a:off x="311700" y="215675"/>
            <a:ext cx="3999900" cy="1014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43" name="Google Shape;243;p37"/>
          <p:cNvSpPr txBox="1"/>
          <p:nvPr>
            <p:ph idx="2" type="body"/>
          </p:nvPr>
        </p:nvSpPr>
        <p:spPr>
          <a:xfrm flipH="1" rot="10800000">
            <a:off x="4711975" y="207125"/>
            <a:ext cx="4120200" cy="1014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4" name="Google Shape;244;p37"/>
          <p:cNvPicPr preferRelativeResize="0"/>
          <p:nvPr/>
        </p:nvPicPr>
        <p:blipFill>
          <a:blip r:embed="rId3">
            <a:alphaModFix/>
          </a:blip>
          <a:stretch>
            <a:fillRect/>
          </a:stretch>
        </p:blipFill>
        <p:spPr>
          <a:xfrm>
            <a:off x="152400" y="1382375"/>
            <a:ext cx="4419599" cy="3608724"/>
          </a:xfrm>
          <a:prstGeom prst="rect">
            <a:avLst/>
          </a:prstGeom>
          <a:noFill/>
          <a:ln>
            <a:noFill/>
          </a:ln>
        </p:spPr>
      </p:pic>
      <p:pic>
        <p:nvPicPr>
          <p:cNvPr id="245" name="Google Shape;245;p37"/>
          <p:cNvPicPr preferRelativeResize="0"/>
          <p:nvPr/>
        </p:nvPicPr>
        <p:blipFill>
          <a:blip r:embed="rId4">
            <a:alphaModFix/>
          </a:blip>
          <a:stretch>
            <a:fillRect/>
          </a:stretch>
        </p:blipFill>
        <p:spPr>
          <a:xfrm>
            <a:off x="4711975" y="1373825"/>
            <a:ext cx="4279625" cy="3397875"/>
          </a:xfrm>
          <a:prstGeom prst="rect">
            <a:avLst/>
          </a:prstGeom>
          <a:noFill/>
          <a:ln>
            <a:noFill/>
          </a:ln>
        </p:spPr>
      </p:pic>
      <p:sp>
        <p:nvSpPr>
          <p:cNvPr id="246" name="Google Shape;246;p37"/>
          <p:cNvSpPr txBox="1"/>
          <p:nvPr>
            <p:ph idx="1" type="body"/>
          </p:nvPr>
        </p:nvSpPr>
        <p:spPr>
          <a:xfrm>
            <a:off x="301650" y="314950"/>
            <a:ext cx="4083000" cy="815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100">
                <a:solidFill>
                  <a:schemeClr val="dk1"/>
                </a:solidFill>
              </a:rPr>
              <a:t>Per Capita of Different States</a:t>
            </a:r>
            <a:endParaRPr sz="2100">
              <a:solidFill>
                <a:schemeClr val="dk1"/>
              </a:solidFill>
            </a:endParaRPr>
          </a:p>
        </p:txBody>
      </p:sp>
      <p:sp>
        <p:nvSpPr>
          <p:cNvPr id="247" name="Google Shape;247;p37"/>
          <p:cNvSpPr txBox="1"/>
          <p:nvPr>
            <p:ph idx="1" type="body"/>
          </p:nvPr>
        </p:nvSpPr>
        <p:spPr>
          <a:xfrm>
            <a:off x="4810288" y="414275"/>
            <a:ext cx="4083000" cy="8157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1200"/>
              </a:spcAft>
              <a:buNone/>
            </a:pPr>
            <a:r>
              <a:rPr lang="en" sz="2100">
                <a:solidFill>
                  <a:schemeClr val="dk1"/>
                </a:solidFill>
              </a:rPr>
              <a:t>Mean Value Added bt Different Sectors</a:t>
            </a:r>
            <a:endParaRPr sz="21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References</a:t>
            </a:r>
            <a:endParaRPr/>
          </a:p>
        </p:txBody>
      </p:sp>
      <p:sp>
        <p:nvSpPr>
          <p:cNvPr id="253" name="Google Shape;253;p38"/>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900"/>
              <a:t>[1]Bogdan OANCEA.Big data in economics.University of Bucharest, Faculty of Business and Administration, Department of Economic and Administrative Sciences.</a:t>
            </a:r>
            <a:endParaRPr sz="900"/>
          </a:p>
          <a:p>
            <a:pPr indent="0" lvl="0" marL="0" rtl="0" algn="l">
              <a:spcBef>
                <a:spcPts val="1200"/>
              </a:spcBef>
              <a:spcAft>
                <a:spcPts val="0"/>
              </a:spcAft>
              <a:buNone/>
            </a:pPr>
            <a:r>
              <a:rPr lang="en" sz="900"/>
              <a:t>[2]Alessio Faccia.Big Data-driven Budgeting and Business  Planning.doi:10.20944/preprints202009.0747.v1</a:t>
            </a:r>
            <a:endParaRPr sz="900"/>
          </a:p>
          <a:p>
            <a:pPr indent="0" lvl="0" marL="0" rtl="0" algn="l">
              <a:spcBef>
                <a:spcPts val="1200"/>
              </a:spcBef>
              <a:spcAft>
                <a:spcPts val="0"/>
              </a:spcAft>
              <a:buNone/>
            </a:pPr>
            <a:r>
              <a:rPr lang="en" sz="900"/>
              <a:t>[3]GANG-HOON KIM, SILVANA TRIMI, AND JI-HYONG CHUNG.Big Data Applications in the Government Sector: A Comparative Analysis among Leading Countries.March 2014.</a:t>
            </a:r>
            <a:r>
              <a:rPr lang="en" sz="900">
                <a:uFill>
                  <a:noFill/>
                </a:uFill>
                <a:hlinkClick r:id="rId3"/>
              </a:rPr>
              <a:t>Communications of the ACM</a:t>
            </a:r>
            <a:r>
              <a:rPr lang="en" sz="900"/>
              <a:t> 57(3):78-85.DOI:</a:t>
            </a:r>
            <a:r>
              <a:rPr lang="en" sz="900">
                <a:uFill>
                  <a:noFill/>
                </a:uFill>
                <a:hlinkClick r:id="rId4"/>
              </a:rPr>
              <a:t>10.1145/2500873</a:t>
            </a:r>
            <a:endParaRPr sz="900"/>
          </a:p>
          <a:p>
            <a:pPr indent="0" lvl="0" marL="0" rtl="0" algn="l">
              <a:spcBef>
                <a:spcPts val="1200"/>
              </a:spcBef>
              <a:spcAft>
                <a:spcPts val="0"/>
              </a:spcAft>
              <a:buNone/>
            </a:pPr>
            <a:r>
              <a:rPr lang="en" sz="900"/>
              <a:t>[4] Itay Goldstein.Big Data in Finance.The Review of Financial Studies, Volume 34, Issue 7, July 2021, Pages 3213–3225, </a:t>
            </a:r>
            <a:r>
              <a:rPr lang="en" sz="900">
                <a:uFill>
                  <a:noFill/>
                </a:uFill>
                <a:hlinkClick r:id="rId5"/>
              </a:rPr>
              <a:t>https://doi.org/10.1093/rfs/hhab038</a:t>
            </a:r>
            <a:endParaRPr sz="900"/>
          </a:p>
          <a:p>
            <a:pPr indent="0" lvl="0" marL="0" rtl="0" algn="l">
              <a:spcBef>
                <a:spcPts val="1200"/>
              </a:spcBef>
              <a:spcAft>
                <a:spcPts val="0"/>
              </a:spcAft>
              <a:buNone/>
            </a:pPr>
            <a:r>
              <a:rPr lang="en" sz="900"/>
              <a:t>[5] Alexander Yukhno1.Digital Transformation: Exploring big data Governance in Public Administration.</a:t>
            </a:r>
            <a:r>
              <a:rPr lang="en" sz="900">
                <a:uFill>
                  <a:noFill/>
                </a:uFill>
                <a:hlinkClick r:id="rId6"/>
              </a:rPr>
              <a:t>https://doi.org/10.1007/s11115-022-00694-x</a:t>
            </a:r>
            <a:endParaRPr sz="900"/>
          </a:p>
          <a:p>
            <a:pPr indent="0" lvl="0" marL="0" rtl="0" algn="l">
              <a:spcBef>
                <a:spcPts val="1200"/>
              </a:spcBef>
              <a:spcAft>
                <a:spcPts val="0"/>
              </a:spcAft>
              <a:buNone/>
            </a:pPr>
            <a:r>
              <a:rPr lang="en" sz="900"/>
              <a:t>[6]Md Altab Hossin , Jie Du, Lei Mu, and Isaac Owusu Asante.Big Data-Driven Public Policy Decisions: Transformation Toward </a:t>
            </a:r>
            <a:r>
              <a:rPr lang="en" sz="900"/>
              <a:t>Smart Governance.DOI: 10.1177/21582440231215123 </a:t>
            </a:r>
            <a:r>
              <a:rPr lang="en" sz="900">
                <a:uFill>
                  <a:noFill/>
                </a:uFill>
                <a:hlinkClick r:id="rId7"/>
              </a:rPr>
              <a:t>journals.sagepub.com/home/sgo</a:t>
            </a:r>
            <a:endParaRPr sz="900"/>
          </a:p>
          <a:p>
            <a:pPr indent="0" lvl="0" marL="0" rtl="0" algn="l">
              <a:spcBef>
                <a:spcPts val="1200"/>
              </a:spcBef>
              <a:spcAft>
                <a:spcPts val="0"/>
              </a:spcAft>
              <a:buNone/>
            </a:pPr>
            <a:r>
              <a:rPr lang="en" sz="900"/>
              <a:t>[7]Hee Yeong Kim June-Suh Cho.Data governance framework for big data implementation with NPS Case Analysis in Korea.Journal of Business and Retail Management Research (JBRMR), Vol. 12 Issue 3</a:t>
            </a:r>
            <a:endParaRPr sz="900"/>
          </a:p>
          <a:p>
            <a:pPr indent="0" lvl="0" marL="0" rtl="0" algn="l">
              <a:spcBef>
                <a:spcPts val="1200"/>
              </a:spcBef>
              <a:spcAft>
                <a:spcPts val="0"/>
              </a:spcAft>
              <a:buNone/>
            </a:pPr>
            <a:r>
              <a:rPr lang="en" sz="900"/>
              <a:t>[8]Richard B. Watson and Peter J. Ryan .Big Data Analytics in Australian Local Government.</a:t>
            </a:r>
            <a:endParaRPr sz="900"/>
          </a:p>
          <a:p>
            <a:pPr indent="0" lvl="0" marL="0" rtl="0" algn="l">
              <a:spcBef>
                <a:spcPts val="1200"/>
              </a:spcBef>
              <a:spcAft>
                <a:spcPts val="1200"/>
              </a:spcAft>
              <a:buNone/>
            </a:pPr>
            <a:r>
              <a:rPr lang="en" sz="900"/>
              <a:t>[9]Kuraeva Anna, Kazantsev Nikolay.SURVEY ON BIG DATA ANALYTICS IN PUBLIC SECTOR OF RUSSIAN FEDERATION.Procedia Computer Science 55 ( 2015 ) 905 – 911</a:t>
            </a:r>
            <a:endParaRPr sz="9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References</a:t>
            </a:r>
            <a:endParaRPr/>
          </a:p>
          <a:p>
            <a:pPr indent="0" lvl="0" marL="0" rtl="0" algn="l">
              <a:spcBef>
                <a:spcPts val="0"/>
              </a:spcBef>
              <a:spcAft>
                <a:spcPts val="0"/>
              </a:spcAft>
              <a:buNone/>
            </a:pPr>
            <a:r>
              <a:t/>
            </a:r>
            <a:endParaRPr/>
          </a:p>
        </p:txBody>
      </p:sp>
      <p:sp>
        <p:nvSpPr>
          <p:cNvPr id="259" name="Google Shape;259;p3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900"/>
              <a:t>[10]Arun Kishor Sahani &amp; R.N. Thakur.BIG DATA ANALYTICS AND E-GOVERNANCE</a:t>
            </a:r>
            <a:endParaRPr sz="900"/>
          </a:p>
          <a:p>
            <a:pPr indent="0" lvl="0" marL="0" rtl="0" algn="l">
              <a:spcBef>
                <a:spcPts val="1200"/>
              </a:spcBef>
              <a:spcAft>
                <a:spcPts val="0"/>
              </a:spcAft>
              <a:buNone/>
            </a:pPr>
            <a:r>
              <a:rPr lang="en" sz="900"/>
              <a:t>POSSIBILITIES AND BARRIERS IN NEPAL.ISSN: 2705-4683; e-ISSN: 2705-4748</a:t>
            </a:r>
            <a:endParaRPr sz="900"/>
          </a:p>
          <a:p>
            <a:pPr indent="0" lvl="0" marL="0" rtl="0" algn="l">
              <a:spcBef>
                <a:spcPts val="1200"/>
              </a:spcBef>
              <a:spcAft>
                <a:spcPts val="0"/>
              </a:spcAft>
              <a:buNone/>
            </a:pPr>
            <a:r>
              <a:rPr lang="en" sz="900"/>
              <a:t>[11]Preet Navdeep, Dr. Manish Arora And Dr. Neeraj Sharma.Role of Big Data Analytics in Analyzing e-Governance Projects.GIAN JYOTI E-JOURNAL, Volume 6, Issue 2 (Apr-Jun 2016) ,10th International Conference on‘New Trends in Business and Management: An International Perspective’</a:t>
            </a:r>
            <a:endParaRPr sz="900"/>
          </a:p>
          <a:p>
            <a:pPr indent="0" lvl="0" marL="0" rtl="0" algn="l">
              <a:spcBef>
                <a:spcPts val="1200"/>
              </a:spcBef>
              <a:spcAft>
                <a:spcPts val="0"/>
              </a:spcAft>
              <a:buNone/>
            </a:pPr>
            <a:r>
              <a:rPr lang="en" sz="900"/>
              <a:t>[12]Goshi Aoki, Kazuto Ataka, Takero Doi , Kota Tsubouchi.Data-driven estimation of economic indicators with search big data in discontinuous situation.The Journal of Finance and Data Science 9 (2023) 100106</a:t>
            </a:r>
            <a:endParaRPr sz="900"/>
          </a:p>
          <a:p>
            <a:pPr indent="0" lvl="0" marL="0" rtl="0" algn="l">
              <a:spcBef>
                <a:spcPts val="1200"/>
              </a:spcBef>
              <a:spcAft>
                <a:spcPts val="0"/>
              </a:spcAft>
              <a:buNone/>
            </a:pPr>
            <a:r>
              <a:rPr lang="en" sz="900"/>
              <a:t>[13]Humaira Rana,Muhammad Umer Farooq.Prediction of Agricultural Commodity Prices using Big Data Framework.DOI: </a:t>
            </a:r>
            <a:r>
              <a:rPr lang="en" sz="900">
                <a:uFill>
                  <a:noFill/>
                </a:uFill>
                <a:hlinkClick r:id="rId3"/>
              </a:rPr>
              <a:t>https://doi.org/10.48084/etasr.6468</a:t>
            </a:r>
            <a:endParaRPr sz="900"/>
          </a:p>
          <a:p>
            <a:pPr indent="0" lvl="0" marL="0" rtl="0" algn="l">
              <a:spcBef>
                <a:spcPts val="1200"/>
              </a:spcBef>
              <a:spcAft>
                <a:spcPts val="0"/>
              </a:spcAft>
              <a:buNone/>
            </a:pPr>
            <a:r>
              <a:rPr lang="en" sz="900"/>
              <a:t>[14Kirti Makwana.A Textual Data Analysis of the UnionBudget of India.INDIAN JOURNAL OF SCIENCE AND TECHNOLOGY</a:t>
            </a:r>
            <a:endParaRPr sz="900"/>
          </a:p>
          <a:p>
            <a:pPr indent="0" lvl="0" marL="0" rtl="0" algn="l">
              <a:spcBef>
                <a:spcPts val="1200"/>
              </a:spcBef>
              <a:spcAft>
                <a:spcPts val="1200"/>
              </a:spcAft>
              <a:buNone/>
            </a:pPr>
            <a:r>
              <a:t/>
            </a:r>
            <a:endParaRPr sz="9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0"/>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